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Sora ExtraBold"/>
      <p:bold r:id="rId22"/>
    </p:embeddedFont>
    <p:embeddedFont>
      <p:font typeface="Sora"/>
      <p:regular r:id="rId23"/>
      <p:bold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oraExtraBold-bold.fntdata"/><Relationship Id="rId21" Type="http://schemas.openxmlformats.org/officeDocument/2006/relationships/slide" Target="slides/slide16.xml"/><Relationship Id="rId24" Type="http://schemas.openxmlformats.org/officeDocument/2006/relationships/font" Target="fonts/Sora-bold.fntdata"/><Relationship Id="rId23" Type="http://schemas.openxmlformats.org/officeDocument/2006/relationships/font" Target="fonts/Sor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frtitl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frtit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frqrco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frqrco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frpro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frpro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frsr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frsr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frwal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frwal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frvoi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frvoi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frdem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frdem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frbeat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frbeat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frbeat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frbeat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frbeat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frbeat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frbeat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frbeat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frbeat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frbeat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frclos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frclos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frqand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frqand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frho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frho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frrea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frrea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0040" y="857250"/>
            <a:ext cx="7041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Formly</a:t>
            </a:r>
            <a:endParaRPr sz="60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20040" y="1851660"/>
            <a:ext cx="7041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Stripe for forms.</a:t>
            </a:r>
            <a:endParaRPr sz="22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0040" y="2708910"/>
            <a:ext cx="5669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Full name, address, account number, phone, IMEI ...</a:t>
            </a:r>
            <a:endParaRPr sz="90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11480" y="2948940"/>
            <a:ext cx="5280600" cy="5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57200" y="2948940"/>
            <a:ext cx="5120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C8C8C"/>
                </a:solidFill>
                <a:latin typeface="IBM Plex Mono"/>
                <a:ea typeface="IBM Plex Mono"/>
                <a:cs typeface="IBM Plex Mono"/>
                <a:sym typeface="IBM Plex Mono"/>
              </a:rPr>
              <a:t>Typing it all again ...</a:t>
            </a:r>
            <a:endParaRPr sz="1350">
              <a:solidFill>
                <a:srgbClr val="8C8C8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829300" y="2948940"/>
            <a:ext cx="2469000" cy="514500"/>
          </a:xfrm>
          <a:prstGeom prst="roundRect">
            <a:avLst>
              <a:gd fmla="val 16667" name="adj"/>
            </a:avLst>
          </a:prstGeom>
          <a:solidFill>
            <a:srgbClr val="E200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737860" y="2948940"/>
            <a:ext cx="2651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Fill with Formly</a:t>
            </a:r>
            <a:endParaRPr b="1" sz="15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20040" y="4629150"/>
            <a:ext cx="8412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Khangai Sukhbaatar · Salvo Bonsma · Jerry Zheng </a:t>
            </a:r>
            <a:endParaRPr sz="90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Grab your phone. Fill a T-Mobile sign-up while we talk.</a:t>
            </a:r>
            <a:endParaRPr sz="270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0040" y="1529334"/>
            <a:ext cx="731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1</a:t>
            </a:r>
            <a:endParaRPr sz="33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937260" y="1611630"/>
            <a:ext cx="450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Tap Fill with Formly</a:t>
            </a:r>
            <a:endParaRPr sz="16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20040" y="2283714"/>
            <a:ext cx="731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2</a:t>
            </a:r>
            <a:endParaRPr sz="33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937260" y="2366010"/>
            <a:ext cx="450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Connect your Google account</a:t>
            </a:r>
            <a:endParaRPr sz="16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20040" y="3038094"/>
            <a:ext cx="731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3</a:t>
            </a:r>
            <a:endParaRPr sz="33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937260" y="3120390"/>
            <a:ext cx="450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Check the answers, then approve</a:t>
            </a:r>
            <a:endParaRPr sz="16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863590" y="1200150"/>
            <a:ext cx="2846100" cy="284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5772150" y="1200150"/>
            <a:ext cx="30291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[QR code to the demo]</a:t>
            </a:r>
            <a:endParaRPr sz="1050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772150" y="4149090"/>
            <a:ext cx="3029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[short link]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You've typed this a hundred times.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20040" y="120015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T-Mobile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11480" y="140589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422910" y="140589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20040" y="174879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Your bank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11480" y="195453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22910" y="195453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20040" y="229743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Your landlord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11480" y="250317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422910" y="250317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20040" y="284607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Your school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11480" y="305181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422910" y="305181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20040" y="339471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An airline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411480" y="360045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422910" y="360045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20040" y="3943350"/>
            <a:ext cx="5257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The DMV · Home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411480" y="4149090"/>
            <a:ext cx="50748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422910" y="4149090"/>
            <a:ext cx="5052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Seattle, WA 98105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875020" y="1303020"/>
            <a:ext cx="2926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E2007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[N]</a:t>
            </a:r>
            <a:endParaRPr sz="7200">
              <a:solidFill>
                <a:srgbClr val="E2007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875020" y="2366010"/>
            <a:ext cx="2926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fields on T-Mobile's switch form. About [M] minutes by hand, measured on our replica.</a:t>
            </a:r>
            <a:endParaRPr sz="12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The answers already exist in your accounts.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320040" y="1303020"/>
            <a:ext cx="3337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Account number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11480" y="1508760"/>
            <a:ext cx="3154800" cy="31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486400" y="1508760"/>
            <a:ext cx="3223200" cy="315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497830" y="1508760"/>
            <a:ext cx="3200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Gmail · your carrier's bill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10" name="Google Shape;110;p16"/>
          <p:cNvCxnSpPr/>
          <p:nvPr/>
        </p:nvCxnSpPr>
        <p:spPr>
          <a:xfrm>
            <a:off x="3600450" y="1666494"/>
            <a:ext cx="1851600" cy="0"/>
          </a:xfrm>
          <a:prstGeom prst="straightConnector1">
            <a:avLst/>
          </a:prstGeom>
          <a:noFill/>
          <a:ln cap="flat" cmpd="sng" w="22225">
            <a:solidFill>
              <a:srgbClr val="E200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6"/>
          <p:cNvSpPr txBox="1"/>
          <p:nvPr/>
        </p:nvSpPr>
        <p:spPr>
          <a:xfrm>
            <a:off x="320040" y="2023110"/>
            <a:ext cx="3337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Phone model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11480" y="2228850"/>
            <a:ext cx="3154800" cy="31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486400" y="2228850"/>
            <a:ext cx="3223200" cy="315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497830" y="2228850"/>
            <a:ext cx="3200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Gmail · phone order receipt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>
            <a:off x="3600450" y="2386584"/>
            <a:ext cx="1851600" cy="0"/>
          </a:xfrm>
          <a:prstGeom prst="straightConnector1">
            <a:avLst/>
          </a:prstGeom>
          <a:noFill/>
          <a:ln cap="flat" cmpd="sng" w="22225">
            <a:solidFill>
              <a:srgbClr val="E200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6"/>
          <p:cNvSpPr txBox="1"/>
          <p:nvPr/>
        </p:nvSpPr>
        <p:spPr>
          <a:xfrm>
            <a:off x="320040" y="2743200"/>
            <a:ext cx="3337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Billing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11480" y="2948940"/>
            <a:ext cx="3154800" cy="31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486400" y="2948940"/>
            <a:ext cx="3223200" cy="315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497830" y="2948940"/>
            <a:ext cx="3200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Drive · lease agreement.pdf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20" name="Google Shape;120;p16"/>
          <p:cNvCxnSpPr/>
          <p:nvPr/>
        </p:nvCxnSpPr>
        <p:spPr>
          <a:xfrm>
            <a:off x="3600450" y="3106674"/>
            <a:ext cx="1851600" cy="0"/>
          </a:xfrm>
          <a:prstGeom prst="straightConnector1">
            <a:avLst/>
          </a:prstGeom>
          <a:noFill/>
          <a:ln cap="flat" cmpd="sng" w="22225">
            <a:solidFill>
              <a:srgbClr val="E200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6"/>
          <p:cNvSpPr txBox="1"/>
          <p:nvPr/>
        </p:nvSpPr>
        <p:spPr>
          <a:xfrm>
            <a:off x="320040" y="3463290"/>
            <a:ext cx="3337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Number to transfer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11480" y="3669030"/>
            <a:ext cx="3154800" cy="31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486400" y="3669030"/>
            <a:ext cx="3223200" cy="315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497830" y="3669030"/>
            <a:ext cx="3200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Gmail · your carrier's bill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3600450" y="3826764"/>
            <a:ext cx="1851600" cy="0"/>
          </a:xfrm>
          <a:prstGeom prst="straightConnector1">
            <a:avLst/>
          </a:prstGeom>
          <a:noFill/>
          <a:ln cap="flat" cmpd="sng" w="22225">
            <a:solidFill>
              <a:srgbClr val="E2007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6"/>
          <p:cNvSpPr txBox="1"/>
          <p:nvPr/>
        </p:nvSpPr>
        <p:spPr>
          <a:xfrm>
            <a:off x="320040" y="435483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rgbClr val="E20074"/>
                </a:solidFill>
                <a:latin typeface="Sora"/>
                <a:ea typeface="Sora"/>
                <a:cs typeface="Sora"/>
                <a:sym typeface="Sora"/>
              </a:rPr>
              <a:t>Formly reads what you connect and finds each answer, so you don't have to remember it.</a:t>
            </a:r>
            <a:endParaRPr sz="1050" u="sng">
              <a:solidFill>
                <a:srgbClr val="E2007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T-Mobile gets answers, not accounts.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20040" y="1097280"/>
            <a:ext cx="3954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Your side</a:t>
            </a:r>
            <a:endParaRPr b="1" sz="97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754753" y="1097280"/>
            <a:ext cx="3954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T-Mobile's side</a:t>
            </a:r>
            <a:endParaRPr b="1" sz="97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4" name="Google Shape;134;p17"/>
          <p:cNvCxnSpPr/>
          <p:nvPr/>
        </p:nvCxnSpPr>
        <p:spPr>
          <a:xfrm>
            <a:off x="4571873" y="1097280"/>
            <a:ext cx="0" cy="3086100"/>
          </a:xfrm>
          <a:prstGeom prst="straightConnector1">
            <a:avLst/>
          </a:prstGeom>
          <a:noFill/>
          <a:ln cap="flat" cmpd="sng" w="19050">
            <a:solidFill>
              <a:srgbClr val="8C8C8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" name="Google Shape;135;p17"/>
          <p:cNvSpPr/>
          <p:nvPr/>
        </p:nvSpPr>
        <p:spPr>
          <a:xfrm>
            <a:off x="411480" y="1474470"/>
            <a:ext cx="1508700" cy="3771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20040" y="1474470"/>
            <a:ext cx="1691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Gmail</a:t>
            </a:r>
            <a:endParaRPr b="1" sz="97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7" name="Google Shape;137;p17"/>
          <p:cNvCxnSpPr/>
          <p:nvPr/>
        </p:nvCxnSpPr>
        <p:spPr>
          <a:xfrm>
            <a:off x="1954530" y="1659636"/>
            <a:ext cx="342900" cy="51450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7"/>
          <p:cNvSpPr/>
          <p:nvPr/>
        </p:nvSpPr>
        <p:spPr>
          <a:xfrm>
            <a:off x="411480" y="1988820"/>
            <a:ext cx="1508700" cy="3771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20040" y="1988820"/>
            <a:ext cx="1691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Google Drive</a:t>
            </a:r>
            <a:endParaRPr b="1" sz="97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0" name="Google Shape;140;p17"/>
          <p:cNvCxnSpPr/>
          <p:nvPr/>
        </p:nvCxnSpPr>
        <p:spPr>
          <a:xfrm>
            <a:off x="1954530" y="2173986"/>
            <a:ext cx="3429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7"/>
          <p:cNvSpPr/>
          <p:nvPr/>
        </p:nvSpPr>
        <p:spPr>
          <a:xfrm>
            <a:off x="411480" y="2503170"/>
            <a:ext cx="1508700" cy="3771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20040" y="2503170"/>
            <a:ext cx="1691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OneDrive</a:t>
            </a:r>
            <a:endParaRPr b="1" sz="97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 flipH="1" rot="10800000">
            <a:off x="1954530" y="2174136"/>
            <a:ext cx="342900" cy="51420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7"/>
          <p:cNvSpPr/>
          <p:nvPr/>
        </p:nvSpPr>
        <p:spPr>
          <a:xfrm>
            <a:off x="2331720" y="1748790"/>
            <a:ext cx="1886100" cy="857400"/>
          </a:xfrm>
          <a:prstGeom prst="roundRect">
            <a:avLst>
              <a:gd fmla="val 16667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2343150" y="1748790"/>
            <a:ext cx="186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Formly fills, shows the source, and waits for your OK</a:t>
            </a:r>
            <a:endParaRPr b="1" sz="9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46" name="Google Shape;146;p17"/>
          <p:cNvCxnSpPr/>
          <p:nvPr/>
        </p:nvCxnSpPr>
        <p:spPr>
          <a:xfrm>
            <a:off x="4251960" y="2173986"/>
            <a:ext cx="925800" cy="0"/>
          </a:xfrm>
          <a:prstGeom prst="straightConnector1">
            <a:avLst/>
          </a:prstGeom>
          <a:noFill/>
          <a:ln cap="flat" cmpd="sng" w="31750">
            <a:solidFill>
              <a:srgbClr val="E2007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17"/>
          <p:cNvSpPr txBox="1"/>
          <p:nvPr/>
        </p:nvSpPr>
        <p:spPr>
          <a:xfrm>
            <a:off x="3474720" y="2708910"/>
            <a:ext cx="2377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only the answers you approved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246370" y="1440180"/>
            <a:ext cx="3463200" cy="264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326380" y="1543050"/>
            <a:ext cx="330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Full name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417820" y="1748790"/>
            <a:ext cx="31203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429250" y="1748790"/>
            <a:ext cx="3097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Maria Reyes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326380" y="2146554"/>
            <a:ext cx="330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Account number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417820" y="2352294"/>
            <a:ext cx="31203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429250" y="2352294"/>
            <a:ext cx="3097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4417 0093 52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326380" y="2750058"/>
            <a:ext cx="330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Phone model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417820" y="2955798"/>
            <a:ext cx="31203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429250" y="2955798"/>
            <a:ext cx="3097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iPhone 14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326380" y="3353562"/>
            <a:ext cx="33033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Billing address</a:t>
            </a:r>
            <a:endParaRPr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417820" y="3559302"/>
            <a:ext cx="3120300" cy="28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429250" y="3559302"/>
            <a:ext cx="3097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141414"/>
                </a:solidFill>
                <a:latin typeface="IBM Plex Mono"/>
                <a:ea typeface="IBM Plex Mono"/>
                <a:cs typeface="IBM Plex Mono"/>
                <a:sym typeface="IBM Plex Mono"/>
              </a:rPr>
              <a:t>1428 Elm St, Seattle</a:t>
            </a:r>
            <a:endParaRPr sz="975">
              <a:solidFill>
                <a:srgbClr val="14141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20040" y="438912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Stripe keeps card numbers away from merchants. Formly keeps your inbox and files away from businesses.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Autofill fills your name. Formly fills the form.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320040" y="1323594"/>
            <a:ext cx="2445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Browser autofill</a:t>
            </a:r>
            <a:endParaRPr b="1" sz="112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811780" y="1323594"/>
            <a:ext cx="58980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857500" y="1323594"/>
            <a:ext cx="580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name, address, card you saved</a:t>
            </a:r>
            <a:endParaRPr sz="10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20040" y="1906524"/>
            <a:ext cx="2445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Password managers</a:t>
            </a:r>
            <a:endParaRPr b="1" sz="112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811780" y="1906524"/>
            <a:ext cx="58980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2857500" y="1906524"/>
            <a:ext cx="580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logins and saved identities</a:t>
            </a:r>
            <a:endParaRPr sz="10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320040" y="2489454"/>
            <a:ext cx="2445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Stripe Link</a:t>
            </a:r>
            <a:endParaRPr b="1" sz="112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811780" y="2489454"/>
            <a:ext cx="58980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857500" y="2489454"/>
            <a:ext cx="580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payment and shipping</a:t>
            </a:r>
            <a:endParaRPr sz="10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0040" y="3072384"/>
            <a:ext cx="2445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5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Sign in with Google</a:t>
            </a:r>
            <a:endParaRPr b="1" sz="1125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811780" y="3072384"/>
            <a:ext cx="58980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2857500" y="3072384"/>
            <a:ext cx="5806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name and email</a:t>
            </a:r>
            <a:endParaRPr sz="10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320040" y="3758184"/>
            <a:ext cx="2445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Formly</a:t>
            </a:r>
            <a:endParaRPr sz="135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2811780" y="3758184"/>
            <a:ext cx="5898000" cy="39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200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857500" y="3758184"/>
            <a:ext cx="58065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any field, found in your own email and files, with a source for every answer</a:t>
            </a:r>
            <a:endParaRPr b="1"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320040" y="4697730"/>
            <a:ext cx="5669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What each tool fills, from public product pages, Oct 2026.</a:t>
            </a:r>
            <a:endParaRPr sz="750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320040" y="617220"/>
            <a:ext cx="704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25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Demo</a:t>
            </a:r>
            <a:endParaRPr sz="825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20040" y="274320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If the live demo fails: time to a finished T-Mobile switch form</a:t>
            </a:r>
            <a:endParaRPr sz="105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20040" y="3154680"/>
            <a:ext cx="41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By hand</a:t>
            </a:r>
            <a:endParaRPr b="1" sz="90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11480" y="3394710"/>
            <a:ext cx="3977700" cy="822900"/>
          </a:xfrm>
          <a:prstGeom prst="roundRect">
            <a:avLst>
              <a:gd fmla="val 16667" name="adj"/>
            </a:avLst>
          </a:prstGeom>
          <a:solidFill>
            <a:srgbClr val="141414"/>
          </a:solidFill>
          <a:ln cap="flat" cmpd="sng" w="12700">
            <a:solidFill>
              <a:srgbClr val="8C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320040" y="3394710"/>
            <a:ext cx="4160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[m:ss]</a:t>
            </a:r>
            <a:endParaRPr sz="3300">
              <a:solidFill>
                <a:srgbClr val="FFFFF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4640580" y="3154680"/>
            <a:ext cx="416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With Formly</a:t>
            </a:r>
            <a:endParaRPr b="1" sz="90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732020" y="3394710"/>
            <a:ext cx="3977700" cy="822900"/>
          </a:xfrm>
          <a:prstGeom prst="roundRect">
            <a:avLst>
              <a:gd fmla="val 16667" name="adj"/>
            </a:avLst>
          </a:prstGeom>
          <a:solidFill>
            <a:srgbClr val="141414"/>
          </a:solidFill>
          <a:ln cap="flat" cmpd="sng" w="25400">
            <a:solidFill>
              <a:srgbClr val="F62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640580" y="3394710"/>
            <a:ext cx="4160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6288F"/>
                </a:solidFill>
                <a:latin typeface="IBM Plex Mono"/>
                <a:ea typeface="IBM Plex Mono"/>
                <a:cs typeface="IBM Plex Mono"/>
                <a:sym typeface="IBM Plex Mono"/>
              </a:rPr>
              <a:t>[m:ss]</a:t>
            </a:r>
            <a:endParaRPr sz="3300">
              <a:solidFill>
                <a:srgbClr val="F6288F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411480" y="411480"/>
            <a:ext cx="6172200" cy="432060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320040" y="411480"/>
            <a:ext cx="63552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[Insert recorded clip: Insert &gt; Video, autoplay]</a:t>
            </a:r>
            <a:endParaRPr sz="975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766560" y="82296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1</a:t>
            </a:r>
            <a:endParaRPr sz="48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766560" y="171450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One button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766560" y="212598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the blank T-Mobile switch form and Fill with Formly</a:t>
            </a:r>
            <a:endParaRPr sz="975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411480" y="411480"/>
            <a:ext cx="6172200" cy="432060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320040" y="411480"/>
            <a:ext cx="63552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[Insert recorded clip: Insert &gt; Video, autoplay]</a:t>
            </a:r>
            <a:endParaRPr sz="975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766560" y="82296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2</a:t>
            </a:r>
            <a:endParaRPr sz="48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766560" y="171450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Connect Google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766560" y="212598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Formly's secure page; T-Mobile never sees this step</a:t>
            </a:r>
            <a:endParaRPr sz="975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411480" y="411480"/>
            <a:ext cx="6172200" cy="432060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20040" y="411480"/>
            <a:ext cx="63552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[Insert recorded clip: Insert &gt; Video, autoplay]</a:t>
            </a:r>
            <a:endParaRPr sz="975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6766560" y="82296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3</a:t>
            </a:r>
            <a:endParaRPr sz="48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6766560" y="171450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Every answer has a source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766560" y="212598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hover a field to see the email or file it came from</a:t>
            </a:r>
            <a:endParaRPr sz="975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/>
          <p:nvPr/>
        </p:nvSpPr>
        <p:spPr>
          <a:xfrm>
            <a:off x="411480" y="411480"/>
            <a:ext cx="6172200" cy="432060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320040" y="411480"/>
            <a:ext cx="63552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[Insert recorded clip: Insert &gt; Video, autoplay]</a:t>
            </a:r>
            <a:endParaRPr sz="975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766560" y="82296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4</a:t>
            </a:r>
            <a:endParaRPr sz="48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6766560" y="171450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Approve and done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6766560" y="212598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T-Mobile gets the finished form and nothing else</a:t>
            </a:r>
            <a:endParaRPr sz="975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411480" y="411480"/>
            <a:ext cx="6172200" cy="4320600"/>
          </a:xfrm>
          <a:prstGeom prst="roundRect">
            <a:avLst>
              <a:gd fmla="val 16667" name="adj"/>
            </a:avLst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20040" y="411480"/>
            <a:ext cx="63552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[Insert recorded clip: Insert &gt; Video, autoplay]</a:t>
            </a:r>
            <a:endParaRPr sz="975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6766560" y="82296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5</a:t>
            </a:r>
            <a:endParaRPr sz="48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6766560" y="171450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The right plan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6766560" y="2125980"/>
            <a:ext cx="2103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the filled-in household powers the plan recommendation</a:t>
            </a:r>
            <a:endParaRPr sz="975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Every finished form is a family T-Mobile can plan for.</a:t>
            </a:r>
            <a:endParaRPr sz="270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320040" y="1337310"/>
            <a:ext cx="8412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6288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[X]× faster</a:t>
            </a:r>
            <a:endParaRPr sz="6000">
              <a:solidFill>
                <a:srgbClr val="F6288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20040" y="236601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to a finished switch form, measured on our replica · fewer abandoned switches · the right plan on the first screen</a:t>
            </a:r>
            <a:endParaRPr sz="12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320040" y="3154680"/>
            <a:ext cx="80697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Our ask: a one-month pilot of Fill with Formly on T-Mobile's switch flow, measured on completion rate and port-in errors.</a:t>
            </a:r>
            <a:endParaRPr b="1" sz="135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320040" y="4629150"/>
            <a:ext cx="8412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Khangai Sukhbaatar · Salvo Bonsma · Jerry Zheng · Arjun Jindal</a:t>
            </a:r>
            <a:endParaRPr sz="90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/>
        </p:nvSpPr>
        <p:spPr>
          <a:xfrm>
            <a:off x="320040" y="617220"/>
            <a:ext cx="53265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FFFF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Formly</a:t>
            </a:r>
            <a:endParaRPr sz="5400">
              <a:solidFill>
                <a:srgbClr val="FFFFFF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320040" y="1543050"/>
            <a:ext cx="5326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Stripe for forms.</a:t>
            </a:r>
            <a:endParaRPr sz="195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320040" y="2263140"/>
            <a:ext cx="51891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Try Fill with Formly on the demo T-Mobile form.</a:t>
            </a:r>
            <a:endParaRPr b="1" sz="1500">
              <a:solidFill>
                <a:srgbClr val="FFFFF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320040" y="2983230"/>
            <a:ext cx="518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6288F"/>
                </a:solidFill>
                <a:latin typeface="Sora"/>
                <a:ea typeface="Sora"/>
                <a:cs typeface="Sora"/>
                <a:sym typeface="Sora"/>
              </a:rPr>
              <a:t>[devpost link]</a:t>
            </a:r>
            <a:endParaRPr b="1" sz="1200">
              <a:solidFill>
                <a:srgbClr val="F6288F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5863590" y="822960"/>
            <a:ext cx="2846100" cy="2846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5772150" y="822960"/>
            <a:ext cx="30291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8C8C8C"/>
                </a:solidFill>
                <a:latin typeface="Sora"/>
                <a:ea typeface="Sora"/>
                <a:cs typeface="Sora"/>
                <a:sym typeface="Sora"/>
              </a:rPr>
              <a:t>[QR code]</a:t>
            </a:r>
            <a:endParaRPr sz="1050">
              <a:solidFill>
                <a:srgbClr val="8C8C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320040" y="4629150"/>
            <a:ext cx="8412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Sora"/>
                <a:ea typeface="Sora"/>
                <a:cs typeface="Sora"/>
                <a:sym typeface="Sora"/>
              </a:rPr>
              <a:t>Khangai Sukhbaatar · Salvo Bonsma · Jerry Zheng · Arjun Jindal</a:t>
            </a:r>
            <a:endParaRPr sz="900">
              <a:solidFill>
                <a:srgbClr val="CCCCCC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/>
        </p:nvSpPr>
        <p:spPr>
          <a:xfrm>
            <a:off x="320040" y="240030"/>
            <a:ext cx="224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Appendix</a:t>
            </a:r>
            <a:endParaRPr b="1"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How it's built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411480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374904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T-Mobile's blank form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68" name="Google Shape;268;p27"/>
          <p:cNvCxnSpPr/>
          <p:nvPr/>
        </p:nvCxnSpPr>
        <p:spPr>
          <a:xfrm>
            <a:off x="1508760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7"/>
          <p:cNvSpPr/>
          <p:nvPr/>
        </p:nvSpPr>
        <p:spPr>
          <a:xfrm>
            <a:off x="1625346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1588770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Formly secure page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1" name="Google Shape;271;p27"/>
          <p:cNvCxnSpPr/>
          <p:nvPr/>
        </p:nvCxnSpPr>
        <p:spPr>
          <a:xfrm>
            <a:off x="2722626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" name="Google Shape;272;p27"/>
          <p:cNvSpPr/>
          <p:nvPr/>
        </p:nvSpPr>
        <p:spPr>
          <a:xfrm>
            <a:off x="2839212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2802636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Connect Google or OneDrive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4" name="Google Shape;274;p27"/>
          <p:cNvCxnSpPr/>
          <p:nvPr/>
        </p:nvCxnSpPr>
        <p:spPr>
          <a:xfrm>
            <a:off x="3936492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7"/>
          <p:cNvSpPr/>
          <p:nvPr/>
        </p:nvSpPr>
        <p:spPr>
          <a:xfrm>
            <a:off x="4053078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4016502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Encrypted vault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77" name="Google Shape;277;p27"/>
          <p:cNvCxnSpPr/>
          <p:nvPr/>
        </p:nvCxnSpPr>
        <p:spPr>
          <a:xfrm>
            <a:off x="5150358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7"/>
          <p:cNvSpPr/>
          <p:nvPr/>
        </p:nvSpPr>
        <p:spPr>
          <a:xfrm>
            <a:off x="5266944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5230368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Extract answers with sources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80" name="Google Shape;280;p27"/>
          <p:cNvCxnSpPr/>
          <p:nvPr/>
        </p:nvCxnSpPr>
        <p:spPr>
          <a:xfrm>
            <a:off x="6364224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27"/>
          <p:cNvSpPr/>
          <p:nvPr/>
        </p:nvSpPr>
        <p:spPr>
          <a:xfrm>
            <a:off x="6480810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6444234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You approve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83" name="Google Shape;283;p27"/>
          <p:cNvCxnSpPr/>
          <p:nvPr/>
        </p:nvCxnSpPr>
        <p:spPr>
          <a:xfrm>
            <a:off x="7578090" y="2023110"/>
            <a:ext cx="116700" cy="0"/>
          </a:xfrm>
          <a:prstGeom prst="straightConnector1">
            <a:avLst/>
          </a:prstGeom>
          <a:noFill/>
          <a:ln cap="flat" cmpd="sng" w="15875">
            <a:solidFill>
              <a:srgbClr val="8C8C8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27"/>
          <p:cNvSpPr/>
          <p:nvPr/>
        </p:nvSpPr>
        <p:spPr>
          <a:xfrm>
            <a:off x="7694676" y="1577340"/>
            <a:ext cx="1097400" cy="891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7658100" y="1577340"/>
            <a:ext cx="11703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Finished form back</a:t>
            </a:r>
            <a:endParaRPr b="1" sz="90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320040" y="288036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Stack: [frontend] · [backend] · [extraction model] · [hosting]   (fill in from the build team)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320040" y="3257550"/>
            <a:ext cx="8412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OAuth with read-only scopes · answers stored encrypted · nothing sent to the business without approval · delete everything in one tap</a:t>
            </a:r>
            <a:endParaRPr sz="1050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/>
        </p:nvSpPr>
        <p:spPr>
          <a:xfrm>
            <a:off x="320040" y="240030"/>
            <a:ext cx="2240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2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Appendix</a:t>
            </a:r>
            <a:endParaRPr b="1" sz="82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320040" y="342900"/>
            <a:ext cx="850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What's real today, and what's next</a:t>
            </a:r>
            <a:endParaRPr sz="27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320040" y="1303020"/>
            <a:ext cx="41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Built in 24 hours</a:t>
            </a:r>
            <a:endParaRPr sz="12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320040" y="1645920"/>
            <a:ext cx="416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[fill in from the build team: what works in the live demo]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4640580" y="1303020"/>
            <a:ext cx="416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41414"/>
                </a:solidFill>
                <a:latin typeface="Sora ExtraBold"/>
                <a:ea typeface="Sora ExtraBold"/>
                <a:cs typeface="Sora ExtraBold"/>
                <a:sym typeface="Sora ExtraBold"/>
              </a:rPr>
              <a:t>Next</a:t>
            </a:r>
            <a:endParaRPr sz="1200">
              <a:solidFill>
                <a:srgbClr val="141414"/>
              </a:solidFill>
              <a:latin typeface="Sora ExtraBold"/>
              <a:ea typeface="Sora ExtraBold"/>
              <a:cs typeface="Sora ExtraBold"/>
              <a:sym typeface="Sora ExtraBol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640580" y="1645920"/>
            <a:ext cx="416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More connectors (OneDrive, Outlook)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A form standard any business can adopt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Signed completed forms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41414"/>
                </a:solidFill>
                <a:latin typeface="Sora"/>
                <a:ea typeface="Sora"/>
                <a:cs typeface="Sora"/>
                <a:sym typeface="Sora"/>
              </a:rPr>
              <a:t>A browser extension for sites without the button</a:t>
            </a:r>
            <a:endParaRPr sz="1050">
              <a:solidFill>
                <a:srgbClr val="141414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320040" y="4389120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6A6A6A"/>
                </a:solidFill>
                <a:latin typeface="Sora"/>
                <a:ea typeface="Sora"/>
                <a:cs typeface="Sora"/>
                <a:sym typeface="Sora"/>
              </a:rPr>
              <a:t>Read-only Google access. Nothing reaches the business without your approval. Delete everything in one tap.</a:t>
            </a:r>
            <a:endParaRPr sz="975">
              <a:solidFill>
                <a:srgbClr val="6A6A6A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