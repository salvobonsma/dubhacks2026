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72" r:id="rId29"/>
    <p:sldId id="259" r:id="rId9"/>
    <p:sldId id="262" r:id="rId12"/>
    <p:sldId id="268" r:id="rId18"/>
    <p:sldId id="269" r:id="rId19"/>
    <p:sldId id="261" r:id="rId11"/>
    <p:sldId id="270" r:id="rId20"/>
    <p:sldId id="271" r:id="rId21"/>
    <p:sldId id="260" r:id="rId10"/>
  </p:sldIdLst>
  <p:sldSz cy="5143500" cx="9144000"/>
  <p:notesSz cx="6858000" cy="9144000"/>
  <p:embeddedFontLst>
    <p:embeddedFont>
      <p:font typeface="Sora ExtraBold"/>
      <p:bold r:id="rId22"/>
    </p:embeddedFont>
    <p:embeddedFont>
      <p:font typeface="Sora"/>
      <p:regular r:id="rId23"/>
      <p:bold r:id="rId24"/>
    </p:embeddedFont>
    <p:embeddedFont>
      <p:font typeface="IBM Plex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SoraExtraBold-bold.fntdata"/><Relationship Id="rId23" Type="http://schemas.openxmlformats.org/officeDocument/2006/relationships/font" Target="fonts/Sora-regular.fntdata"/><Relationship Id="rId24" Type="http://schemas.openxmlformats.org/officeDocument/2006/relationships/font" Target="fonts/Sora-bold.fntdata"/><Relationship Id="rId25" Type="http://schemas.openxmlformats.org/officeDocument/2006/relationships/font" Target="fonts/IBMPlexMono-regular.fntdata"/><Relationship Id="rId26" Type="http://schemas.openxmlformats.org/officeDocument/2006/relationships/font" Target="fonts/IBMPlexMono-bold.fntdata"/><Relationship Id="rId27" Type="http://schemas.openxmlformats.org/officeDocument/2006/relationships/font" Target="fonts/IBMPlexMono-italic.fntdata"/><Relationship Id="rId28" Type="http://schemas.openxmlformats.org/officeDocument/2006/relationships/font" Target="fonts/IBMPlexMono-boldItalic.fntdata"/><Relationship Id="rId2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frtitl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fr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0:00-0:15 · Hi, we're Formly: Stripe for forms. We are here to making switching to T-mobile the ______ . We make it one tap. Then straight to: want to try it?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frqrcod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frqrcod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0:15 · Hand the judge the phone on B. A teammate starts A by hand at the same time. Say go. Cap the race at 60 seconds; nobody has to finish 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frprob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frprob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0:20-0:50 · Talk while they race. Everyone has typed their address a hundred times. Half of Americans say the hassle of switching puts them off changing carriers (YouGov). 18% of shoppers who quit a checkout blame a long or complicated one (Baymard).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frsrc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frsrc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1:15-1:45 · Race over. Have the judge tap a filled field on the phone: it shows the email or file the answer came from. Account number from the carrier bill in Gmail, phone model from the order receipt, address from the lease on Drive.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frwal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frwal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 reading my inbox safe? Formly reads the accounts; T-Mobile only receives the finished answers the customer approved. Read-only Google access, delete everything in one tap.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frvoid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frvoi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isn't this just autofill? Autofill fills your name, password managers fill logins, Stripe Link fills payment. Nothing fills the account number, IMEI or the number you're transferring.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frdemo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frdemo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1:45-1:55 · Which was faster? Their time against the teammate's. If the race went wrong, point at our measured times on screen.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0:50-1:15 · Still racing. By hand isn't a line: typos, wrong PINs, made-up answers, rejected port-ins, start again or quit. Each account that finishes is about $1,835 a year to T-Mobile ($152.91 a month, Q2 2026). Shopify says prefilled checkout finishes up to 50% more orders; that's their own study, so treat it as a ceiling. Stripe made paying one tap. We make signing up one tap.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frclos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frclos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1:55-2:10 · Bring Formly to T-Mobile. Say it out loud: less friction, more switchers. The ask: a one-month pilot on T-Mobile's switch flow, measured on completion rate and port-in errors.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frqanda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frqanda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2:10-4:30 · Questions. Slides 9-12 are hidden; type the number and press Enter to jump. Isn't this just autofill? 9 · How is it built? 10 · What works today? 11 · Is reading my inbox safe? 12. 4:30-5:00 · Leave them with the QR.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frhow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frhow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how is it built? Walk the pipeline left to right. Stack line is still a placeholder for the build team.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frrea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frrea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what works today? Fill in from the build team before judging.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320040" y="1851660"/>
            <a:ext cx="7041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22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11480" y="2948940"/>
            <a:ext cx="5280600" cy="51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2948940"/>
            <a:ext cx="5120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Typing it all again ...</a:t>
            </a:r>
            <a:endParaRPr sz="13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5829300" y="2948940"/>
            <a:ext cx="2469000" cy="5145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/>
        </p:nvSpPr>
        <p:spPr>
          <a:xfrm>
            <a:off x="6172200" y="2948940"/>
            <a:ext cx="2032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Fill with Formly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" name="Picture 61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8200"/>
            <a:ext cx="3335492" cy="838200"/>
          </a:xfrm>
          <a:prstGeom prst="rect">
            <a:avLst/>
          </a:prstGeom>
        </p:spPr>
      </p:pic>
      <p:pic>
        <p:nvPicPr>
          <p:cNvPr id="63" name="Picture 62" descr="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3055620"/>
            <a:ext cx="255383" cy="299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241300" y="292100"/>
            <a:ext cx="850392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Sora SemiBold"/>
              </a:rPr>
              <a:t>Lets have a Race!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00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78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8A94A3"/>
                </a:solidFill>
                <a:latin typeface="Sora SemiBold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6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The usual way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6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Type every field yourself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3843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843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A]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8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A]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634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412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22C985"/>
                </a:solidFill>
                <a:latin typeface="Sora SemiBold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000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000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One button, your Google account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277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277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B]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12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B]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412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Tap Fill with Formly, connect Google, approve.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78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Name, address, account number, IMEI 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You've typed this a hundred times.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20040" y="11620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T-Mobile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11480" y="14058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22910" y="14058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20040" y="171069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bank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411480" y="195453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422910" y="195453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20040" y="225933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landlord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411480" y="250317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15"/>
          <p:cNvSpPr txBox="1"/>
          <p:nvPr/>
        </p:nvSpPr>
        <p:spPr>
          <a:xfrm>
            <a:off x="422910" y="250317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20040" y="280797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school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411480" y="305181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422910" y="305181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320040" y="335661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An airline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411480" y="360045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" name="Google Shape;95;p15"/>
          <p:cNvSpPr txBox="1"/>
          <p:nvPr/>
        </p:nvSpPr>
        <p:spPr>
          <a:xfrm>
            <a:off x="422910" y="360045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20040" y="39052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The DMV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411480" y="41490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422910" y="41490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829300" y="1193800"/>
            <a:ext cx="3048000" cy="889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0">
                <a:solidFill>
                  <a:srgbClr val="0F1A2A"/>
                </a:solidFill>
                <a:latin typeface="Sora SemiBold"/>
              </a:rPr>
              <a:t>1 in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829300" y="2032000"/>
            <a:ext cx="3048000" cy="76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0F1A2A"/>
                </a:solidFill>
                <a:latin typeface="DM Sans"/>
              </a:rPr>
              <a:t>Americans say the hassle of switching puts them off changing carriers.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80100" y="2921000"/>
            <a:ext cx="2794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829300" y="3048000"/>
            <a:ext cx="3048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0F1A2A"/>
                </a:solidFill>
                <a:latin typeface="Sora SemiBold"/>
              </a:rPr>
              <a:t>18%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29300" y="3530600"/>
            <a:ext cx="3048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of US shoppers who quit a checkout did it because it was too long or complicated.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29300" y="4267200"/>
            <a:ext cx="3048000" cy="381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YouGov, Jan 2023 · Baymard Institute, 2025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880100" y="27178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880100" y="2717800"/>
            <a:ext cx="1333500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880100" y="40386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880100" y="4038600"/>
            <a:ext cx="480059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The answers already exist in your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320040" y="130302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411480" y="150876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5486400" y="150876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497830" y="150876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0" name="Google Shape;110;p16"/>
          <p:cNvCxnSpPr/>
          <p:nvPr/>
        </p:nvCxnSpPr>
        <p:spPr>
          <a:xfrm>
            <a:off x="3600450" y="166649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" name="Google Shape;111;p16"/>
          <p:cNvSpPr txBox="1"/>
          <p:nvPr/>
        </p:nvSpPr>
        <p:spPr>
          <a:xfrm>
            <a:off x="320040" y="202311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411480" y="222885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486400" y="222885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497830" y="222885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phone order receipt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5" name="Google Shape;115;p16"/>
          <p:cNvCxnSpPr/>
          <p:nvPr/>
        </p:nvCxnSpPr>
        <p:spPr>
          <a:xfrm>
            <a:off x="3600450" y="238658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" name="Google Shape;116;p16"/>
          <p:cNvSpPr txBox="1"/>
          <p:nvPr/>
        </p:nvSpPr>
        <p:spPr>
          <a:xfrm>
            <a:off x="320040" y="274320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411480" y="294894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5486400" y="294894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497830" y="294894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Drive · lease agreement.pdf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3600450" y="310667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" name="Google Shape;121;p16"/>
          <p:cNvSpPr txBox="1"/>
          <p:nvPr/>
        </p:nvSpPr>
        <p:spPr>
          <a:xfrm>
            <a:off x="320040" y="346329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Number to transfer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411480" y="366903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486400" y="366903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497830" y="366903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5" name="Google Shape;125;p16"/>
          <p:cNvCxnSpPr/>
          <p:nvPr/>
        </p:nvCxnSpPr>
        <p:spPr>
          <a:xfrm>
            <a:off x="3600450" y="382676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320040" y="435483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u="none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reads what you connect and finds each answer, so you don't have to remember it.</a:t>
            </a:r>
            <a:endParaRPr sz="1050" u="sng" b="0">
              <a:solidFill>
                <a:srgbClr val="22C98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5394900" y="160934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394900" y="232943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394900" y="304952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394900" y="376961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T-Mobile gets answers, not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320040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Your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754753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4" name="Google Shape;134;p17"/>
          <p:cNvCxnSpPr/>
          <p:nvPr/>
        </p:nvCxnSpPr>
        <p:spPr>
          <a:xfrm>
            <a:off x="4571873" y="1097280"/>
            <a:ext cx="0" cy="3086100"/>
          </a:xfrm>
          <a:prstGeom prst="straightConnector1">
            <a:avLst/>
          </a:prstGeom>
          <a:noFill/>
          <a:ln cap="flat" cmpd="sng" w="19050">
            <a:solidFill>
              <a:srgbClr val="8A94A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35" name="Google Shape;135;p17"/>
          <p:cNvSpPr/>
          <p:nvPr/>
        </p:nvSpPr>
        <p:spPr>
          <a:xfrm>
            <a:off x="411480" y="14744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320040" y="14744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Gmail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1954530" y="1659636"/>
            <a:ext cx="342900" cy="5145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17"/>
          <p:cNvSpPr/>
          <p:nvPr/>
        </p:nvSpPr>
        <p:spPr>
          <a:xfrm>
            <a:off x="411480" y="198882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20040" y="198882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Google 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0" name="Google Shape;140;p17"/>
          <p:cNvCxnSpPr/>
          <p:nvPr/>
        </p:nvCxnSpPr>
        <p:spPr>
          <a:xfrm>
            <a:off x="1954530" y="2173986"/>
            <a:ext cx="3429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" name="Google Shape;141;p17"/>
          <p:cNvSpPr/>
          <p:nvPr/>
        </p:nvSpPr>
        <p:spPr>
          <a:xfrm>
            <a:off x="411480" y="25031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320040" y="25031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OneDrive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 flipH="1" rot="10800000">
            <a:off x="1954530" y="2174136"/>
            <a:ext cx="342900" cy="5142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" name="Google Shape;144;p17"/>
          <p:cNvSpPr/>
          <p:nvPr/>
        </p:nvSpPr>
        <p:spPr>
          <a:xfrm>
            <a:off x="2331720" y="1748790"/>
            <a:ext cx="1886100" cy="8574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2343150" y="1748790"/>
            <a:ext cx="1863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fills, shows the source, and waits for your OK</a:t>
            </a:r>
            <a:endParaRPr b="0" sz="90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251960" y="2173986"/>
            <a:ext cx="925800" cy="0"/>
          </a:xfrm>
          <a:prstGeom prst="straightConnector1">
            <a:avLst/>
          </a:prstGeom>
          <a:noFill/>
          <a:ln cap="flat" cmpd="sng" w="31750">
            <a:solidFill>
              <a:srgbClr val="22C98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17"/>
          <p:cNvSpPr txBox="1"/>
          <p:nvPr/>
        </p:nvSpPr>
        <p:spPr>
          <a:xfrm>
            <a:off x="4254500" y="2260600"/>
            <a:ext cx="9779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approved answers only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246370" y="1440180"/>
            <a:ext cx="3463200" cy="2640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9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5326380" y="1543050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Full name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417820" y="1748790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29250" y="1748790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Maria Reyes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326380" y="2146554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417820" y="2352294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29250" y="2352294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4417 0093 52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326380" y="2750058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417820" y="2955798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429250" y="2955798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iPhone 14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326380" y="3353562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417820" y="3559302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429250" y="3559302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20040" y="438912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Stripe keeps card numbers away from merchants. Formly keeps your inbox and files away from businesses.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Autofill fills your name. Formly fills the form.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320040" y="132359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Browser autofill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2811780" y="132359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2857500" y="132359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name, address, card you saved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320040" y="190652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Password managers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2811780" y="190652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2857500" y="190652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logins and saved identities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20040" y="248945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Stripe Link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2811780" y="248945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857500" y="248945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payment and shipping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20040" y="307238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Sign in with Google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811780" y="307238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857500" y="307238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 and email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20040" y="3758184"/>
            <a:ext cx="2445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Formly</a:t>
            </a:r>
            <a:endParaRPr sz="135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2811780" y="3758184"/>
            <a:ext cx="5898000" cy="3978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2857500" y="3758184"/>
            <a:ext cx="58065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any field, found in your own email and files, with a source for every answer</a:t>
            </a:r>
            <a:endParaRPr b="0" sz="105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 txBox="1"/>
          <p:nvPr/>
        </p:nvSpPr>
        <p:spPr>
          <a:xfrm>
            <a:off x="320040" y="617220"/>
            <a:ext cx="7041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Which was faster?</a:t>
            </a:r>
            <a:endParaRPr sz="825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8" name="Google Shape;188;p19"/>
          <p:cNvSpPr txBox="1"/>
          <p:nvPr/>
        </p:nvSpPr>
        <p:spPr>
          <a:xfrm>
            <a:off x="320040" y="215900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Same T-Mobile switch form. Our times on the replica:</a:t>
            </a:r>
            <a:endParaRPr sz="10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32004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 · By hand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41148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 cap="flat" cmpd="sng" w="12700">
            <a:solidFill>
              <a:srgbClr val="8A94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32004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464058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 · Fill with Formly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473202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4058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32004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[N] fields typed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64058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0 fields typed, every answer sourced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Bring Formly to T-Mobile.</a:t>
            </a:r>
            <a:endParaRPr sz="27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5" name="Google Shape;245;p25"/>
          <p:cNvSpPr txBox="1"/>
          <p:nvPr/>
        </p:nvSpPr>
        <p:spPr>
          <a:xfrm>
            <a:off x="320040" y="1337310"/>
            <a:ext cx="84126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0">
                <a:solidFill>
                  <a:srgbClr val="22C985"/>
                </a:solidFill>
                <a:latin typeface="Sora SemiBold"/>
                <a:ea typeface="Sora SemiBold"/>
                <a:cs typeface="Sora SemiBold"/>
                <a:sym typeface="Sora SemiBold"/>
              </a:rPr>
              <a:t>[X]× faster</a:t>
            </a:r>
            <a:endParaRPr sz="60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6" name="Google Shape;246;p25"/>
          <p:cNvSpPr txBox="1"/>
          <p:nvPr/>
        </p:nvSpPr>
        <p:spPr>
          <a:xfrm>
            <a:off x="320040" y="2366010"/>
            <a:ext cx="8412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to a finished switch form, measured on our replica · fewer people quit halfway</a:t>
            </a:r>
            <a:endParaRPr sz="1200" b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25"/>
          <p:cNvSpPr txBox="1"/>
          <p:nvPr/>
        </p:nvSpPr>
        <p:spPr>
          <a:xfrm>
            <a:off x="320040" y="3154680"/>
            <a:ext cx="80697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5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Our ask: a one-month pilot of Fill with Formly on T-Mobile's switch flow, measured on completion rate and port-in errors.</a:t>
            </a:r>
            <a:endParaRPr b="0" sz="135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48" name="Google Shape;248;p25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· Arjun Jindal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6"/>
          <p:cNvSpPr txBox="1"/>
          <p:nvPr/>
        </p:nvSpPr>
        <p:spPr>
          <a:xfrm>
            <a:off x="320040" y="1543050"/>
            <a:ext cx="5326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5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19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320040" y="2263140"/>
            <a:ext cx="51891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Try Fill with Formly on the demo T-Mobile form.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320040" y="2983230"/>
            <a:ext cx="518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2C98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[devpost link]</a:t>
            </a:r>
            <a:endParaRPr b="0" sz="1200">
              <a:solidFill>
                <a:srgbClr val="22C98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57" name="Google Shape;257;p26"/>
          <p:cNvSpPr/>
          <p:nvPr/>
        </p:nvSpPr>
        <p:spPr>
          <a:xfrm>
            <a:off x="5863590" y="822960"/>
            <a:ext cx="2846100" cy="284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5772150" y="822960"/>
            <a:ext cx="3029100" cy="28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[QR B · Fill with Formly]</a:t>
            </a:r>
            <a:endParaRPr sz="10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Picture 259" descr="locku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5000"/>
            <a:ext cx="2939862" cy="736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How it's built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66" name="Google Shape;266;p27"/>
          <p:cNvSpPr/>
          <p:nvPr/>
        </p:nvSpPr>
        <p:spPr>
          <a:xfrm>
            <a:off x="41148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37490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blank form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68" name="Google Shape;268;p27"/>
          <p:cNvCxnSpPr/>
          <p:nvPr/>
        </p:nvCxnSpPr>
        <p:spPr>
          <a:xfrm>
            <a:off x="150876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9" name="Google Shape;269;p27"/>
          <p:cNvSpPr/>
          <p:nvPr/>
        </p:nvSpPr>
        <p:spPr>
          <a:xfrm>
            <a:off x="162534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158877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secure page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1" name="Google Shape;271;p27"/>
          <p:cNvCxnSpPr/>
          <p:nvPr/>
        </p:nvCxnSpPr>
        <p:spPr>
          <a:xfrm>
            <a:off x="2722626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2" name="Google Shape;272;p27"/>
          <p:cNvSpPr/>
          <p:nvPr/>
        </p:nvSpPr>
        <p:spPr>
          <a:xfrm>
            <a:off x="2839212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2802636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Connect Google or OneDrive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4" name="Google Shape;274;p27"/>
          <p:cNvCxnSpPr/>
          <p:nvPr/>
        </p:nvCxnSpPr>
        <p:spPr>
          <a:xfrm>
            <a:off x="3936492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5" name="Google Shape;275;p27"/>
          <p:cNvSpPr/>
          <p:nvPr/>
        </p:nvSpPr>
        <p:spPr>
          <a:xfrm>
            <a:off x="4053078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7"/>
          <p:cNvSpPr txBox="1"/>
          <p:nvPr/>
        </p:nvSpPr>
        <p:spPr>
          <a:xfrm>
            <a:off x="4016502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Encrypted vault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7" name="Google Shape;277;p27"/>
          <p:cNvCxnSpPr/>
          <p:nvPr/>
        </p:nvCxnSpPr>
        <p:spPr>
          <a:xfrm>
            <a:off x="5150358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7"/>
          <p:cNvSpPr/>
          <p:nvPr/>
        </p:nvSpPr>
        <p:spPr>
          <a:xfrm>
            <a:off x="5266944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5230368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Extract answers with sources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0" name="Google Shape;280;p27"/>
          <p:cNvCxnSpPr/>
          <p:nvPr/>
        </p:nvCxnSpPr>
        <p:spPr>
          <a:xfrm>
            <a:off x="6364224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1" name="Google Shape;281;p27"/>
          <p:cNvSpPr/>
          <p:nvPr/>
        </p:nvSpPr>
        <p:spPr>
          <a:xfrm>
            <a:off x="648081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644423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 approve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3" name="Google Shape;283;p27"/>
          <p:cNvCxnSpPr/>
          <p:nvPr/>
        </p:nvCxnSpPr>
        <p:spPr>
          <a:xfrm>
            <a:off x="757809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4" name="Google Shape;284;p27"/>
          <p:cNvSpPr/>
          <p:nvPr/>
        </p:nvSpPr>
        <p:spPr>
          <a:xfrm>
            <a:off x="769467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7"/>
          <p:cNvSpPr txBox="1"/>
          <p:nvPr/>
        </p:nvSpPr>
        <p:spPr>
          <a:xfrm>
            <a:off x="765810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Finished form back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86" name="Google Shape;286;p27"/>
          <p:cNvSpPr txBox="1"/>
          <p:nvPr/>
        </p:nvSpPr>
        <p:spPr>
          <a:xfrm>
            <a:off x="320040" y="288036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Stack: [frontend] · [backend] · [extraction model] · [hosting]   (fill in from the build team)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320040" y="3257550"/>
            <a:ext cx="8412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OAuth with read-only scopes · answers stored encrypted · nothing sent to the business without approval · delete everything in one tap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8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93" name="Google Shape;293;p28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What's real today, and what's next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32004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Built in 24 hours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5" name="Google Shape;295;p28"/>
          <p:cNvSpPr txBox="1"/>
          <p:nvPr/>
        </p:nvSpPr>
        <p:spPr>
          <a:xfrm>
            <a:off x="32004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[fill in from the build team: what works in the live demo]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6" name="Google Shape;296;p28"/>
          <p:cNvSpPr txBox="1"/>
          <p:nvPr/>
        </p:nvSpPr>
        <p:spPr>
          <a:xfrm>
            <a:off x="464058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Next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7" name="Google Shape;297;p28"/>
          <p:cNvSpPr txBox="1"/>
          <p:nvPr/>
        </p:nvSpPr>
        <p:spPr>
          <a:xfrm>
            <a:off x="464058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More connectors (OneDrive, Outlook)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form standard any business can adopt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Signed completed forms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browser extension for sites without the button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8" name="Google Shape;298;p28"/>
          <p:cNvSpPr txBox="1"/>
          <p:nvPr/>
        </p:nvSpPr>
        <p:spPr>
          <a:xfrm>
            <a:off x="320040" y="438912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Read-only Google access. Nothing reaches the business without your approval. Delete everything in one tap.</a:t>
            </a:r>
            <a:endParaRPr sz="97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4000"/>
            <a:ext cx="850392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700" b="0">
                <a:solidFill>
                  <a:srgbClr val="0F1A2A"/>
                </a:solidFill>
                <a:latin typeface="Sora SemiBold"/>
              </a:rPr>
              <a:t>Formly converts.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36850" y="1422400"/>
            <a:ext cx="4953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47388" y="1618689"/>
            <a:ext cx="128423" cy="674221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889250" y="2489200"/>
            <a:ext cx="4572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69395" y="2312596"/>
            <a:ext cx="613684" cy="89083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3844" y="2442976"/>
            <a:ext cx="1205702" cy="703326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08058" y="1756720"/>
            <a:ext cx="2032655" cy="138767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21863" y="2670371"/>
            <a:ext cx="558538" cy="32783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387763" y="1465197"/>
            <a:ext cx="382214" cy="2831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81000" y="1930400"/>
            <a:ext cx="660400" cy="6604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" y="1930400"/>
            <a:ext cx="812800" cy="660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12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Typo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63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7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Wrong PIN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500" y="2324100"/>
            <a:ext cx="1143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38300" y="2324100"/>
            <a:ext cx="1295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Call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8200" y="2324100"/>
            <a:ext cx="1270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02000" y="2324100"/>
            <a:ext cx="1422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Port-in rejected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9600" y="3162300"/>
            <a:ext cx="13208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3400" y="3162300"/>
            <a:ext cx="14732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Made-up answer</a:t>
            </a:r>
          </a:p>
        </p:txBody>
      </p:sp>
      <p:sp>
        <p:nvSpPr>
          <p:cNvPr id="25" name="Oval 24"/>
          <p:cNvSpPr/>
          <p:nvPr/>
        </p:nvSpPr>
        <p:spPr>
          <a:xfrm>
            <a:off x="4800600" y="1143000"/>
            <a:ext cx="762000" cy="762000"/>
          </a:xfrm>
          <a:prstGeom prst="ellipse">
            <a:avLst/>
          </a:prstGeom>
          <a:solidFill>
            <a:srgbClr val="F6F7F9"/>
          </a:solidFill>
          <a:ln w="19050">
            <a:solidFill>
              <a:srgbClr val="CBD1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4400" y="1143000"/>
            <a:ext cx="914400" cy="76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8A94A3"/>
                </a:solidFill>
                <a:latin typeface="DM Sans"/>
              </a:rPr>
              <a:t>Signed up?</a:t>
            </a:r>
          </a:p>
        </p:txBody>
      </p:sp>
      <p:sp>
        <p:nvSpPr>
          <p:cNvPr id="27" name="Oval 26"/>
          <p:cNvSpPr/>
          <p:nvPr/>
        </p:nvSpPr>
        <p:spPr>
          <a:xfrm>
            <a:off x="4864100" y="2857500"/>
            <a:ext cx="635000" cy="635000"/>
          </a:xfrm>
          <a:prstGeom prst="ellipse">
            <a:avLst/>
          </a:prstGeom>
          <a:solidFill>
            <a:srgbClr val="5B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7900" y="2857500"/>
            <a:ext cx="787400" cy="635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Quit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8890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A ·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7084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B · Fill with Formly</a:t>
            </a:r>
          </a:p>
        </p:txBody>
      </p:sp>
      <p:sp>
        <p:nvSpPr>
          <p:cNvPr id="31" name="Oval 30"/>
          <p:cNvSpPr/>
          <p:nvPr/>
        </p:nvSpPr>
        <p:spPr>
          <a:xfrm>
            <a:off x="355600" y="3962400"/>
            <a:ext cx="609600" cy="6096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9400" y="3962400"/>
            <a:ext cx="762000" cy="609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6000" y="4267200"/>
            <a:ext cx="2540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20800" y="4076700"/>
            <a:ext cx="1905000" cy="381000"/>
          </a:xfrm>
          <a:prstGeom prst="roundRect">
            <a:avLst>
              <a:gd name="adj" fmla="val 23000"/>
            </a:avLst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00" y="4159250"/>
            <a:ext cx="183962" cy="2159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76400" y="4076700"/>
            <a:ext cx="15240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276600" y="4267200"/>
            <a:ext cx="5334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860800" y="40767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60800" y="4076700"/>
            <a:ext cx="12192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0">
                <a:solidFill>
                  <a:srgbClr val="0F1A2A"/>
                </a:solidFill>
                <a:latin typeface="DM Sans Medium"/>
              </a:rPr>
              <a:t>✓ Signed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8200" y="11684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0F1A2A"/>
                </a:solidFill>
                <a:latin typeface="Sora SemiBold"/>
              </a:rPr>
              <a:t>$1,835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8200" y="17526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a year from each new account that finishes signing up ($152.91 a month).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69000" y="2463800"/>
            <a:ext cx="2667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18200" y="2565400"/>
            <a:ext cx="2921000" cy="55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0F1A2A"/>
                </a:solidFill>
                <a:latin typeface="Sora SemiBold"/>
              </a:rPr>
              <a:t>up to 50%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200" y="30480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more checkouts finished when the form is prefilled (Shop Pay vs. guest checkout).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8200" y="3810000"/>
            <a:ext cx="2921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T-Mobile Q2 2026 results, postpaid ARPA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1244600"/>
            <a:ext cx="63500" cy="1168400"/>
          </a:xfrm>
          <a:prstGeom prst="rect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