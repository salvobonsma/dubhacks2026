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72" r:id="rId5"/>
    <p:sldId id="259" r:id="rId6"/>
    <p:sldId id="268" r:id="rId7"/>
    <p:sldId id="269" r:id="rId8"/>
    <p:sldId id="261" r:id="rId9"/>
    <p:sldId id="270" r:id="rId10"/>
    <p:sldId id="271" r:id="rId11"/>
    <p:sldId id="260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4"/>
    <p:restoredTop sz="94637"/>
  </p:normalViewPr>
  <p:slideViewPr>
    <p:cSldViewPr snapToGrid="0">
      <p:cViewPr varScale="1">
        <p:scale>
          <a:sx n="196" d="100"/>
          <a:sy n="196" d="100"/>
        </p:scale>
        <p:origin x="184" y="2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frtitl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frtitl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0:00-0:15 · Hi, we're Formly: Stripe for forms. We are here to making switching to T-mobile the ______ . We make it one tap. Then straight to: want to try it?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frqrco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frqrco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0:15 · Hand the judge the phone on B. A teammate starts A by hand at the same time. Say go. Cap the race at 60 seconds; nobody has to finish 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frpro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frpro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0:20-0:50 · Talk while they race. Everyone has typed their address a hundred times: the bank, the landlord, the DMV. T-Mobile's sign-up alone is 33 fields.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0:50-1:15 · Still racing. By hand isn't a line: typos, wrong PINs, made-up answers, rejected port-ins, start again or quit. Click: Formly is one straight line, one tap to signed up. Stripe made paying one tap. We make signing up one tap.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frsr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frsr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1:15-1:45 · Race over: who won? Then have the judge tap a filled field: it shows the email or file the answer came from. Account number from the carrier bill in Gmail, phone model from the order receipt, address from the lease on Drive.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frclos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frclos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1:45-2:10 · Bring Formly to T-Mobile. Walk the cards left to right: 33 fields become one tap; half of Americans are put off switching; prefilled checkouts finish up to 50% more (Shopify's own study, so a ceiling); each new account is $1,835 a year. Then the ask: a one-month pilot, measured on completion rate and port-in errors. Less friction, more switchers.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frqanda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frqanda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2:10-4:30 · Questions. Slides 8-11 are hidden; type the number and press Enter to jump. Isn't this just autofill? 8 · How is it built? 9 · What works today? 10 · Is reading my inbox safe? 11. 4:30-5:00 · Leave them with the QR.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frvoid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frvoid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Answer to: isn't this just autofill? Autofill fills your name, password managers fill logins, Stripe Link fills payment. Nothing fills the account number, IMEI or the number you're transferring.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frhow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frhow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Answer to: how is it built? Walk the pipeline left to right. Stack line is still a placeholder for the build team.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frreal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frreal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Answer to: what works today? Fill in from the build team before judging.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frwall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frwall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Answer to: is reading my inbox safe? Formly reads the accounts; T-Mobile only receives the finished answers the customer approved. Read-only Google access, delete everything in one tap.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/>
        </p:nvSpPr>
        <p:spPr>
          <a:xfrm>
            <a:off x="320040" y="1851660"/>
            <a:ext cx="7041000" cy="4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Stripe for forms.</a:t>
            </a:r>
            <a:endParaRPr sz="22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11480" y="2948940"/>
            <a:ext cx="5280600" cy="514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2948940"/>
            <a:ext cx="51207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Typing it all again ...</a:t>
            </a:r>
            <a:endParaRPr sz="13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5829300" y="2948940"/>
            <a:ext cx="2469000" cy="514500"/>
          </a:xfrm>
          <a:prstGeom prst="roundRect">
            <a:avLst>
              <a:gd name="adj" fmla="val 16667"/>
            </a:avLst>
          </a:prstGeom>
          <a:solidFill>
            <a:srgbClr val="0F1A2A"/>
          </a:solidFill>
          <a:ln>
            <a:noFill/>
          </a:ln>
          <a:effectLst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 txBox="1"/>
          <p:nvPr/>
        </p:nvSpPr>
        <p:spPr>
          <a:xfrm>
            <a:off x="6172200" y="2948940"/>
            <a:ext cx="2032000" cy="5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Fill with Formly</a:t>
            </a:r>
            <a:endParaRPr sz="15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2" name="Picture 61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38200"/>
            <a:ext cx="3335492" cy="838200"/>
          </a:xfrm>
          <a:prstGeom prst="rect">
            <a:avLst/>
          </a:prstGeom>
        </p:spPr>
      </p:pic>
      <p:pic>
        <p:nvPicPr>
          <p:cNvPr id="63" name="Picture 62" descr="mark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3055620"/>
            <a:ext cx="255383" cy="29972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A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65"/>
          <p:cNvSpPr txBox="1"/>
          <p:nvPr/>
        </p:nvSpPr>
        <p:spPr>
          <a:xfrm>
            <a:off x="241300" y="292100"/>
            <a:ext cx="8503920" cy="50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Sora SemiBold"/>
              </a:rPr>
              <a:t>Lets have a Race!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200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97840" y="1397000"/>
            <a:ext cx="762000" cy="584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0">
                <a:solidFill>
                  <a:srgbClr val="8A94A3"/>
                </a:solidFill>
                <a:latin typeface="Sora SemiBold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6640" y="1447800"/>
            <a:ext cx="3238500" cy="30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The usual way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6640" y="1752600"/>
            <a:ext cx="32385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Type every field yourself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3843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384300" y="2159000"/>
            <a:ext cx="2032000" cy="203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A]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840" y="4318000"/>
            <a:ext cx="3810000" cy="279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A]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63440" y="1270000"/>
            <a:ext cx="4160520" cy="3657600"/>
          </a:xfrm>
          <a:prstGeom prst="roundRect">
            <a:avLst>
              <a:gd name="adj" fmla="val 5000"/>
            </a:avLst>
          </a:prstGeom>
          <a:solidFill>
            <a:srgbClr val="1B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841240" y="1397000"/>
            <a:ext cx="762000" cy="584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200" b="0">
                <a:solidFill>
                  <a:srgbClr val="22C985"/>
                </a:solidFill>
                <a:latin typeface="Sora SemiBold"/>
              </a:rPr>
              <a:t>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00040" y="1447800"/>
            <a:ext cx="3238500" cy="30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00040" y="1752600"/>
            <a:ext cx="32385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B9C1CC"/>
                </a:solidFill>
                <a:latin typeface="DM Sans"/>
              </a:rPr>
              <a:t>One button, your Google account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27700" y="2159000"/>
            <a:ext cx="2032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727700" y="2159000"/>
            <a:ext cx="2032000" cy="203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8A94A3"/>
                </a:solidFill>
                <a:latin typeface="DM Sans"/>
              </a:rPr>
              <a:t>[QR B]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1240" y="4318000"/>
            <a:ext cx="3810000" cy="279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DM Sans"/>
              </a:rPr>
              <a:t>[short link B]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You've typed this a hundred times.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320040" y="116205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T-Mobile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11480" y="140589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22910" y="140589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320040" y="171069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bank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411480" y="195453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 txBox="1"/>
          <p:nvPr/>
        </p:nvSpPr>
        <p:spPr>
          <a:xfrm>
            <a:off x="422910" y="195453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320040" y="225933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landlord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411480" y="250317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5"/>
          <p:cNvSpPr txBox="1"/>
          <p:nvPr/>
        </p:nvSpPr>
        <p:spPr>
          <a:xfrm>
            <a:off x="422910" y="250317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20040" y="280797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Your school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1" name="Google Shape;91;p15"/>
          <p:cNvSpPr/>
          <p:nvPr/>
        </p:nvSpPr>
        <p:spPr>
          <a:xfrm>
            <a:off x="411480" y="305181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5"/>
          <p:cNvSpPr txBox="1"/>
          <p:nvPr/>
        </p:nvSpPr>
        <p:spPr>
          <a:xfrm>
            <a:off x="422910" y="305181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320040" y="335661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An airline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5"/>
          <p:cNvSpPr/>
          <p:nvPr/>
        </p:nvSpPr>
        <p:spPr>
          <a:xfrm>
            <a:off x="411480" y="360045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5"/>
          <p:cNvSpPr txBox="1"/>
          <p:nvPr/>
        </p:nvSpPr>
        <p:spPr>
          <a:xfrm>
            <a:off x="422910" y="360045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320040" y="3905250"/>
            <a:ext cx="8382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The DMV · Home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411480" y="4149090"/>
            <a:ext cx="81990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422910" y="4149090"/>
            <a:ext cx="81762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Seattle, WA 98105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54000"/>
            <a:ext cx="8503920" cy="584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0">
                <a:solidFill>
                  <a:srgbClr val="0F1A2A"/>
                </a:solidFill>
                <a:latin typeface="Sora SemiBold"/>
              </a:rPr>
              <a:t>Formly converts.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287773" y="1598303"/>
            <a:ext cx="1489995" cy="5391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950970" y="1422400"/>
            <a:ext cx="126746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65072" y="1617870"/>
            <a:ext cx="205975" cy="675859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4184650" y="2489200"/>
            <a:ext cx="1252220" cy="0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307889" y="2293303"/>
            <a:ext cx="1441790" cy="130808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287773" y="1598303"/>
            <a:ext cx="1489995" cy="53914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87474" y="2384578"/>
            <a:ext cx="2103350" cy="766846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289641" y="1685984"/>
            <a:ext cx="3430782" cy="1463855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10477" y="2665234"/>
            <a:ext cx="1061699" cy="389482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92536" y="1454207"/>
            <a:ext cx="1095215" cy="50704"/>
          </a:xfrm>
          <a:prstGeom prst="curvedConnector3">
            <a:avLst/>
          </a:prstGeom>
          <a:ln w="12700">
            <a:solidFill>
              <a:srgbClr val="5B657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17219" y="1930400"/>
            <a:ext cx="660400" cy="6604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1019" y="1930400"/>
            <a:ext cx="812800" cy="66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8580" y="1257300"/>
            <a:ext cx="131064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32380" y="1257300"/>
            <a:ext cx="1463040" cy="330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Typo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0180" y="1257300"/>
            <a:ext cx="131064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73980" y="1257300"/>
            <a:ext cx="1463040" cy="330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Wrong PIN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1300" y="2324100"/>
            <a:ext cx="13716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05100" y="2324100"/>
            <a:ext cx="1524000" cy="330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Call support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8620" y="2324100"/>
            <a:ext cx="15240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92420" y="2324100"/>
            <a:ext cx="1676400" cy="330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Port-in rejected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81020" y="3162300"/>
            <a:ext cx="158496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1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04820" y="3162300"/>
            <a:ext cx="1737360" cy="330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0F1A2A"/>
                </a:solidFill>
                <a:latin typeface="DM Sans"/>
              </a:rPr>
              <a:t>Made-up answer</a:t>
            </a:r>
          </a:p>
        </p:txBody>
      </p:sp>
      <p:sp>
        <p:nvSpPr>
          <p:cNvPr id="25" name="Oval 24"/>
          <p:cNvSpPr/>
          <p:nvPr/>
        </p:nvSpPr>
        <p:spPr>
          <a:xfrm>
            <a:off x="7719060" y="1143000"/>
            <a:ext cx="762000" cy="762000"/>
          </a:xfrm>
          <a:prstGeom prst="ellipse">
            <a:avLst/>
          </a:prstGeom>
          <a:solidFill>
            <a:srgbClr val="F6F7F9"/>
          </a:solidFill>
          <a:ln w="19050">
            <a:solidFill>
              <a:srgbClr val="CBD1D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2860" y="1143000"/>
            <a:ext cx="914400" cy="76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8A94A3"/>
                </a:solidFill>
                <a:latin typeface="DM Sans"/>
              </a:rPr>
              <a:t>Signed up?</a:t>
            </a:r>
          </a:p>
        </p:txBody>
      </p:sp>
      <p:sp>
        <p:nvSpPr>
          <p:cNvPr id="27" name="Oval 26"/>
          <p:cNvSpPr/>
          <p:nvPr/>
        </p:nvSpPr>
        <p:spPr>
          <a:xfrm>
            <a:off x="7782560" y="2857500"/>
            <a:ext cx="635000" cy="635000"/>
          </a:xfrm>
          <a:prstGeom prst="ellipse">
            <a:avLst/>
          </a:prstGeom>
          <a:solidFill>
            <a:srgbClr val="5B6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06360" y="2857500"/>
            <a:ext cx="787400" cy="635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Quit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889000"/>
            <a:ext cx="3810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A ·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708400"/>
            <a:ext cx="38100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5B6575"/>
                </a:solidFill>
                <a:latin typeface="DM Sans Medium"/>
              </a:rPr>
              <a:t>B · Fill with Formly</a:t>
            </a:r>
          </a:p>
        </p:txBody>
      </p:sp>
      <p:sp>
        <p:nvSpPr>
          <p:cNvPr id="31" name="Oval 30"/>
          <p:cNvSpPr/>
          <p:nvPr/>
        </p:nvSpPr>
        <p:spPr>
          <a:xfrm>
            <a:off x="355600" y="3962400"/>
            <a:ext cx="609600" cy="609600"/>
          </a:xfrm>
          <a:prstGeom prst="ellipse">
            <a:avLst/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9400" y="3962400"/>
            <a:ext cx="762000" cy="6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DM Sans Medium"/>
              </a:rPr>
              <a:t>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6000" y="4267200"/>
            <a:ext cx="3048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371600" y="4051300"/>
            <a:ext cx="2260600" cy="431800"/>
          </a:xfrm>
          <a:prstGeom prst="roundRect">
            <a:avLst>
              <a:gd name="adj" fmla="val 23000"/>
            </a:avLst>
          </a:prstGeom>
          <a:solidFill>
            <a:srgbClr val="0F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00" y="4140200"/>
            <a:ext cx="216426" cy="254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803400" y="4051300"/>
            <a:ext cx="1778000" cy="431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Sora SemiBold"/>
              </a:rPr>
              <a:t>Fill with Formly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708400" y="4267200"/>
            <a:ext cx="3606800" cy="0"/>
          </a:xfrm>
          <a:prstGeom prst="line">
            <a:avLst/>
          </a:prstGeom>
          <a:ln w="19050">
            <a:solidFill>
              <a:srgbClr val="8A94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391400" y="4051300"/>
            <a:ext cx="1397000" cy="431800"/>
          </a:xfrm>
          <a:prstGeom prst="roundRect">
            <a:avLst>
              <a:gd name="adj" fmla="val 50000"/>
            </a:avLst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91400" y="4051300"/>
            <a:ext cx="1397000" cy="431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50" b="0">
                <a:solidFill>
                  <a:srgbClr val="0F1A2A"/>
                </a:solidFill>
                <a:latin typeface="DM Sans Medium"/>
              </a:rPr>
              <a:t>✓ Signed up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4" grpId="0" animBg="1"/>
      <p:bldP spid="36" grpId="0"/>
      <p:bldP spid="38" grpId="0" animBg="1"/>
      <p:bldP spid="3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The answers already exist in your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365760" y="120396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411480" y="1508760"/>
            <a:ext cx="3154800" cy="31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5486400" y="1508760"/>
            <a:ext cx="3223200" cy="315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497830" y="150876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0" name="Google Shape;110;p16"/>
          <p:cNvCxnSpPr/>
          <p:nvPr/>
        </p:nvCxnSpPr>
        <p:spPr>
          <a:xfrm>
            <a:off x="3600450" y="1666494"/>
            <a:ext cx="1733550" cy="0"/>
          </a:xfrm>
          <a:prstGeom prst="straightConnector1">
            <a:avLst/>
          </a:prstGeom>
          <a:noFill/>
          <a:ln w="28575" cap="flat" cmpd="sng">
            <a:solidFill>
              <a:srgbClr val="22C98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1" name="Google Shape;111;p16"/>
          <p:cNvSpPr txBox="1"/>
          <p:nvPr/>
        </p:nvSpPr>
        <p:spPr>
          <a:xfrm>
            <a:off x="365760" y="192405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411480" y="2228850"/>
            <a:ext cx="3154800" cy="31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5486400" y="2228850"/>
            <a:ext cx="3223200" cy="315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/>
          <p:nvPr/>
        </p:nvSpPr>
        <p:spPr>
          <a:xfrm>
            <a:off x="5497830" y="222885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phone order receipt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15" name="Google Shape;115;p16"/>
          <p:cNvCxnSpPr/>
          <p:nvPr/>
        </p:nvCxnSpPr>
        <p:spPr>
          <a:xfrm>
            <a:off x="3600450" y="2386584"/>
            <a:ext cx="1733550" cy="0"/>
          </a:xfrm>
          <a:prstGeom prst="straightConnector1">
            <a:avLst/>
          </a:prstGeom>
          <a:noFill/>
          <a:ln w="28575" cap="flat" cmpd="sng">
            <a:solidFill>
              <a:srgbClr val="22C98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6" name="Google Shape;116;p16"/>
          <p:cNvSpPr txBox="1"/>
          <p:nvPr/>
        </p:nvSpPr>
        <p:spPr>
          <a:xfrm>
            <a:off x="365760" y="264414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411480" y="2948940"/>
            <a:ext cx="3154800" cy="31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5486400" y="2948940"/>
            <a:ext cx="3223200" cy="315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5497830" y="294894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Drive · lease agreement.pdf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3600450" y="3106674"/>
            <a:ext cx="1733550" cy="0"/>
          </a:xfrm>
          <a:prstGeom prst="straightConnector1">
            <a:avLst/>
          </a:prstGeom>
          <a:noFill/>
          <a:ln w="28575" cap="flat" cmpd="sng">
            <a:solidFill>
              <a:srgbClr val="22C98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1" name="Google Shape;121;p16"/>
          <p:cNvSpPr txBox="1"/>
          <p:nvPr/>
        </p:nvSpPr>
        <p:spPr>
          <a:xfrm>
            <a:off x="365760" y="3364230"/>
            <a:ext cx="3337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Number to transfer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411480" y="3669030"/>
            <a:ext cx="3154800" cy="31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486400" y="3669030"/>
            <a:ext cx="3223200" cy="315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5497830" y="3669030"/>
            <a:ext cx="32004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Gmail · your carrier's bill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125" name="Google Shape;125;p16"/>
          <p:cNvCxnSpPr/>
          <p:nvPr/>
        </p:nvCxnSpPr>
        <p:spPr>
          <a:xfrm>
            <a:off x="3600450" y="3826764"/>
            <a:ext cx="1733550" cy="0"/>
          </a:xfrm>
          <a:prstGeom prst="straightConnector1">
            <a:avLst/>
          </a:prstGeom>
          <a:noFill/>
          <a:ln w="28575" cap="flat" cmpd="sng">
            <a:solidFill>
              <a:srgbClr val="22C98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" name="Google Shape;126;p16"/>
          <p:cNvSpPr txBox="1"/>
          <p:nvPr/>
        </p:nvSpPr>
        <p:spPr>
          <a:xfrm>
            <a:off x="365760" y="4241800"/>
            <a:ext cx="8382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 u="none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reads what you connect and finds each answer, so you don't have to remember it.</a:t>
            </a:r>
            <a:endParaRPr sz="1050" b="0" u="sng">
              <a:solidFill>
                <a:srgbClr val="22C98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5276850" y="160934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5276850" y="232943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5276850" y="304952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5276850" y="3769614"/>
            <a:ext cx="114300" cy="114300"/>
          </a:xfrm>
          <a:prstGeom prst="ellipse">
            <a:avLst/>
          </a:prstGeom>
          <a:solidFill>
            <a:srgbClr val="22C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45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/>
      <p:bldP spid="113" grpId="0" animBg="1"/>
      <p:bldP spid="114" grpId="0"/>
      <p:bldP spid="118" grpId="0" animBg="1"/>
      <p:bldP spid="119" grpId="0"/>
      <p:bldP spid="123" grpId="0" animBg="1"/>
      <p:bldP spid="124" grpId="0"/>
      <p:bldP spid="127" grpId="0" animBg="1"/>
      <p:bldP spid="128" grpId="0" animBg="1"/>
      <p:bldP spid="129" grpId="0" animBg="1"/>
      <p:bldP spid="1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 243"/>
          <p:cNvSpPr/>
          <p:nvPr/>
        </p:nvSpPr>
        <p:spPr>
          <a:xfrm>
            <a:off x="0" y="0"/>
            <a:ext cx="9144000" cy="2032000"/>
          </a:xfrm>
          <a:prstGeom prst="rect">
            <a:avLst/>
          </a:prstGeom>
          <a:solidFill>
            <a:srgbClr val="E20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320040" y="279400"/>
            <a:ext cx="2489200" cy="431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6" name="Picture 245" descr="locku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381000"/>
            <a:ext cx="909680" cy="228600"/>
          </a:xfrm>
          <a:prstGeom prst="rect">
            <a:avLst/>
          </a:prstGeom>
        </p:spPr>
      </p:pic>
      <p:sp>
        <p:nvSpPr>
          <p:cNvPr id="247" name="TextBox 246"/>
          <p:cNvSpPr txBox="1"/>
          <p:nvPr/>
        </p:nvSpPr>
        <p:spPr>
          <a:xfrm>
            <a:off x="1384300" y="279400"/>
            <a:ext cx="228600" cy="431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141414"/>
                </a:solidFill>
                <a:latin typeface="Inter"/>
              </a:rPr>
              <a:t>×</a:t>
            </a:r>
          </a:p>
        </p:txBody>
      </p:sp>
      <p:pic>
        <p:nvPicPr>
          <p:cNvPr id="248" name="Picture 247" descr="tmobi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300" y="393700"/>
            <a:ext cx="1004994" cy="203200"/>
          </a:xfrm>
          <a:prstGeom prst="rect">
            <a:avLst/>
          </a:prstGeom>
        </p:spPr>
      </p:pic>
      <p:sp>
        <p:nvSpPr>
          <p:cNvPr id="249" name="TextBox 248"/>
          <p:cNvSpPr txBox="1"/>
          <p:nvPr/>
        </p:nvSpPr>
        <p:spPr>
          <a:xfrm>
            <a:off x="320040" y="787400"/>
            <a:ext cx="8509000" cy="635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 Display"/>
              </a:rPr>
              <a:t>Bring Formly to T-Mobile.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20040" y="1422400"/>
            <a:ext cx="7874000" cy="50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nter"/>
              </a:rPr>
              <a:t>The ask: a one-month pilot of Fill with Formly on T-Mobile's switch flow, measured on completion rate and port-in errors.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32004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TextBox 251"/>
          <p:cNvSpPr txBox="1"/>
          <p:nvPr/>
        </p:nvSpPr>
        <p:spPr>
          <a:xfrm>
            <a:off x="421640" y="2565400"/>
            <a:ext cx="1803400" cy="431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33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21640" y="3098800"/>
            <a:ext cx="18034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fields on T-Mobile's sign-up (our replica). Formly fills them in one tap.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21640" y="4419600"/>
            <a:ext cx="18034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Our T-Mobile demo form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248412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TextBox 255"/>
          <p:cNvSpPr txBox="1"/>
          <p:nvPr/>
        </p:nvSpPr>
        <p:spPr>
          <a:xfrm>
            <a:off x="2585720" y="2565400"/>
            <a:ext cx="1803400" cy="431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1 in 2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2585720" y="3098800"/>
            <a:ext cx="18034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Americans say the hassle of switching puts them off changing carriers.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2585720" y="4419600"/>
            <a:ext cx="18034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YouGov, 2023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464820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TextBox 259"/>
          <p:cNvSpPr txBox="1"/>
          <p:nvPr/>
        </p:nvSpPr>
        <p:spPr>
          <a:xfrm>
            <a:off x="4749800" y="2565400"/>
            <a:ext cx="1803400" cy="431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Inter Display"/>
              </a:rPr>
              <a:t>up to 50%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4749800" y="3098800"/>
            <a:ext cx="18034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more checkouts finished when the form is prefilled.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749800" y="4419600"/>
            <a:ext cx="18034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Shopify, Shop Pay study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6812280" y="2362200"/>
            <a:ext cx="2011680" cy="2413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6913880" y="2565400"/>
            <a:ext cx="1803400" cy="431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E20074"/>
                </a:solidFill>
                <a:latin typeface="Inter Display"/>
              </a:rPr>
              <a:t>$1,835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6913880" y="3098800"/>
            <a:ext cx="18034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>
                <a:solidFill>
                  <a:srgbClr val="141414"/>
                </a:solidFill>
                <a:latin typeface="Inter"/>
              </a:rPr>
              <a:t>a year from each new T-Mobile postpaid account.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6913880" y="4419600"/>
            <a:ext cx="1803400" cy="25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50" b="0">
                <a:solidFill>
                  <a:srgbClr val="6A6A6A"/>
                </a:solidFill>
                <a:latin typeface="Inter"/>
              </a:rPr>
              <a:t>T-Mobile Q2 2026 results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animBg="1"/>
      <p:bldP spid="252" grpId="0"/>
      <p:bldP spid="253" grpId="0"/>
      <p:bldP spid="254" grpId="0"/>
      <p:bldP spid="255" grpId="0" animBg="1"/>
      <p:bldP spid="256" grpId="0"/>
      <p:bldP spid="257" grpId="0"/>
      <p:bldP spid="258" grpId="0"/>
      <p:bldP spid="259" grpId="0" animBg="1"/>
      <p:bldP spid="260" grpId="0"/>
      <p:bldP spid="261" grpId="0"/>
      <p:bldP spid="262" grpId="0"/>
      <p:bldP spid="263" grpId="0" animBg="1"/>
      <p:bldP spid="264" grpId="0"/>
      <p:bldP spid="265" grpId="0"/>
      <p:bldP spid="26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A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6"/>
          <p:cNvSpPr txBox="1"/>
          <p:nvPr/>
        </p:nvSpPr>
        <p:spPr>
          <a:xfrm>
            <a:off x="320040" y="1092200"/>
            <a:ext cx="5326500" cy="9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b="0">
                <a:solidFill>
                  <a:srgbClr val="FFFFFF"/>
                </a:solidFill>
                <a:latin typeface="Sora SemiBold"/>
                <a:ea typeface="Sora"/>
                <a:cs typeface="Sora"/>
                <a:sym typeface="Sora"/>
              </a:rPr>
              <a:t>Questions?</a:t>
            </a:r>
            <a:endParaRPr sz="195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320040" y="2263140"/>
            <a:ext cx="5189100" cy="61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0">
                <a:solidFill>
                  <a:srgbClr val="FFFFFF"/>
                </a:solidFill>
                <a:latin typeface="Sora SemiBold"/>
                <a:ea typeface="Sora SemiBold"/>
                <a:cs typeface="Sora SemiBold"/>
                <a:sym typeface="Sora SemiBold"/>
              </a:rPr>
              <a:t>Try Fill with Formly on the demo T-Mobile form.</a:t>
            </a:r>
            <a:endParaRPr sz="1500" b="0">
              <a:solidFill>
                <a:srgbClr val="FFFFFF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56" name="Google Shape;256;p26"/>
          <p:cNvSpPr txBox="1"/>
          <p:nvPr/>
        </p:nvSpPr>
        <p:spPr>
          <a:xfrm>
            <a:off x="320040" y="2983230"/>
            <a:ext cx="51891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22C98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[devpost link]</a:t>
            </a:r>
            <a:endParaRPr sz="1200" b="0">
              <a:solidFill>
                <a:srgbClr val="22C98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57" name="Google Shape;257;p26"/>
          <p:cNvSpPr/>
          <p:nvPr/>
        </p:nvSpPr>
        <p:spPr>
          <a:xfrm>
            <a:off x="5863590" y="822960"/>
            <a:ext cx="2846100" cy="2846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26"/>
          <p:cNvSpPr txBox="1"/>
          <p:nvPr/>
        </p:nvSpPr>
        <p:spPr>
          <a:xfrm>
            <a:off x="5772150" y="822960"/>
            <a:ext cx="3029100" cy="28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8A94A3"/>
                </a:solidFill>
                <a:latin typeface="DM Sans"/>
                <a:ea typeface="DM Sans"/>
                <a:cs typeface="DM Sans"/>
                <a:sym typeface="DM Sans"/>
              </a:rPr>
              <a:t>[QR B · Fill with Formly]</a:t>
            </a:r>
            <a:endParaRPr sz="1050" b="0">
              <a:solidFill>
                <a:srgbClr val="8A94A3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6"/>
          <p:cNvSpPr txBox="1"/>
          <p:nvPr/>
        </p:nvSpPr>
        <p:spPr>
          <a:xfrm>
            <a:off x="320040" y="4629150"/>
            <a:ext cx="84126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CBD1DA"/>
                </a:solidFill>
                <a:latin typeface="DM Sans"/>
                <a:ea typeface="DM Sans"/>
                <a:cs typeface="DM Sans"/>
                <a:sym typeface="DM Sans"/>
              </a:rPr>
              <a:t>Khangai Sukhbaatar · Salvo Bonsma · Jerry Zheng </a:t>
            </a:r>
            <a:endParaRPr sz="900" b="0">
              <a:solidFill>
                <a:srgbClr val="CBD1D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0" name="Picture 259" descr="lockup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31800"/>
            <a:ext cx="2027491" cy="508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6F7F9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Autofill fills your name. Formly fills the form.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320040" y="132359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Browser autofill</a:t>
            </a:r>
            <a:endParaRPr sz="112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2811780" y="1323594"/>
            <a:ext cx="5898000" cy="329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2857500" y="132359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name, address, card you saved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320040" y="190652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Password managers</a:t>
            </a:r>
            <a:endParaRPr sz="112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2811780" y="1906524"/>
            <a:ext cx="5898000" cy="329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2857500" y="190652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logins and saved identities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20040" y="248945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Stripe Link</a:t>
            </a:r>
            <a:endParaRPr sz="112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2811780" y="2489454"/>
            <a:ext cx="5898000" cy="329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2857500" y="248945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payment and shipping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320040" y="3072384"/>
            <a:ext cx="24459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2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Sign in with Google</a:t>
            </a:r>
            <a:endParaRPr sz="112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811780" y="3072384"/>
            <a:ext cx="5898000" cy="329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857500" y="3072384"/>
            <a:ext cx="58065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name and email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320040" y="3758184"/>
            <a:ext cx="24459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Formly</a:t>
            </a:r>
            <a:endParaRPr sz="135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2811780" y="3758184"/>
            <a:ext cx="5898000" cy="397800"/>
          </a:xfrm>
          <a:prstGeom prst="roundRect">
            <a:avLst>
              <a:gd name="adj" fmla="val 16667"/>
            </a:avLst>
          </a:prstGeom>
          <a:solidFill>
            <a:srgbClr val="22C985"/>
          </a:solidFill>
          <a:ln w="25400" cap="flat" cmpd="sng">
            <a:solidFill>
              <a:srgbClr val="22C98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2857500" y="3758184"/>
            <a:ext cx="58065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any field, found in your own email and files, with a source for every answer</a:t>
            </a:r>
            <a:endParaRPr sz="105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6F7F9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sz="825" b="0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How it's built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66" name="Google Shape;266;p27"/>
          <p:cNvSpPr/>
          <p:nvPr/>
        </p:nvSpPr>
        <p:spPr>
          <a:xfrm>
            <a:off x="411480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/>
          <p:nvPr/>
        </p:nvSpPr>
        <p:spPr>
          <a:xfrm>
            <a:off x="37490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blank form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68" name="Google Shape;268;p27"/>
          <p:cNvCxnSpPr/>
          <p:nvPr/>
        </p:nvCxnSpPr>
        <p:spPr>
          <a:xfrm>
            <a:off x="1508760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9" name="Google Shape;269;p27"/>
          <p:cNvSpPr/>
          <p:nvPr/>
        </p:nvSpPr>
        <p:spPr>
          <a:xfrm>
            <a:off x="1625346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158877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secure page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1" name="Google Shape;271;p27"/>
          <p:cNvCxnSpPr/>
          <p:nvPr/>
        </p:nvCxnSpPr>
        <p:spPr>
          <a:xfrm>
            <a:off x="2722626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2" name="Google Shape;272;p27"/>
          <p:cNvSpPr/>
          <p:nvPr/>
        </p:nvSpPr>
        <p:spPr>
          <a:xfrm>
            <a:off x="2839212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2802636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Connect Google or OneDrive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4" name="Google Shape;274;p27"/>
          <p:cNvCxnSpPr/>
          <p:nvPr/>
        </p:nvCxnSpPr>
        <p:spPr>
          <a:xfrm>
            <a:off x="3936492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5" name="Google Shape;275;p27"/>
          <p:cNvSpPr/>
          <p:nvPr/>
        </p:nvSpPr>
        <p:spPr>
          <a:xfrm>
            <a:off x="4053078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7"/>
          <p:cNvSpPr txBox="1"/>
          <p:nvPr/>
        </p:nvSpPr>
        <p:spPr>
          <a:xfrm>
            <a:off x="4016502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Encrypted vault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77" name="Google Shape;277;p27"/>
          <p:cNvCxnSpPr/>
          <p:nvPr/>
        </p:nvCxnSpPr>
        <p:spPr>
          <a:xfrm>
            <a:off x="5150358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8" name="Google Shape;278;p27"/>
          <p:cNvSpPr/>
          <p:nvPr/>
        </p:nvSpPr>
        <p:spPr>
          <a:xfrm>
            <a:off x="5266944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5230368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Extract answers with sources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0" name="Google Shape;280;p27"/>
          <p:cNvCxnSpPr/>
          <p:nvPr/>
        </p:nvCxnSpPr>
        <p:spPr>
          <a:xfrm>
            <a:off x="6364224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1" name="Google Shape;281;p27"/>
          <p:cNvSpPr/>
          <p:nvPr/>
        </p:nvSpPr>
        <p:spPr>
          <a:xfrm>
            <a:off x="6480810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27"/>
          <p:cNvSpPr txBox="1"/>
          <p:nvPr/>
        </p:nvSpPr>
        <p:spPr>
          <a:xfrm>
            <a:off x="6444234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 approve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283" name="Google Shape;283;p27"/>
          <p:cNvCxnSpPr/>
          <p:nvPr/>
        </p:nvCxnSpPr>
        <p:spPr>
          <a:xfrm>
            <a:off x="7578090" y="2023110"/>
            <a:ext cx="1167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84" name="Google Shape;284;p27"/>
          <p:cNvSpPr/>
          <p:nvPr/>
        </p:nvSpPr>
        <p:spPr>
          <a:xfrm>
            <a:off x="7694676" y="1577340"/>
            <a:ext cx="1097400" cy="8916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27"/>
          <p:cNvSpPr txBox="1"/>
          <p:nvPr/>
        </p:nvSpPr>
        <p:spPr>
          <a:xfrm>
            <a:off x="7658100" y="1577340"/>
            <a:ext cx="1170300" cy="8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Finished form back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86" name="Google Shape;286;p27"/>
          <p:cNvSpPr txBox="1"/>
          <p:nvPr/>
        </p:nvSpPr>
        <p:spPr>
          <a:xfrm>
            <a:off x="320040" y="288036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Stack: [frontend] · [backend] · [extraction model] · [hosting]   (fill in from the build team)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87" name="Google Shape;287;p27"/>
          <p:cNvSpPr txBox="1"/>
          <p:nvPr/>
        </p:nvSpPr>
        <p:spPr>
          <a:xfrm>
            <a:off x="320040" y="3257550"/>
            <a:ext cx="8412600" cy="4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OAuth with read-only scopes · answers stored encrypted · nothing sent to the business without approval · delete everything in one tap</a:t>
            </a:r>
            <a:endParaRPr sz="1050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6F7F9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8"/>
          <p:cNvSpPr txBox="1"/>
          <p:nvPr/>
        </p:nvSpPr>
        <p:spPr>
          <a:xfrm>
            <a:off x="320040" y="240030"/>
            <a:ext cx="22404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Appendix</a:t>
            </a:r>
            <a:endParaRPr sz="825" b="0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293" name="Google Shape;293;p28"/>
          <p:cNvSpPr txBox="1"/>
          <p:nvPr/>
        </p:nvSpPr>
        <p:spPr>
          <a:xfrm>
            <a:off x="320040" y="3429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What's real today, and what's next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32004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Built in 24 hours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5" name="Google Shape;295;p28"/>
          <p:cNvSpPr txBox="1"/>
          <p:nvPr/>
        </p:nvSpPr>
        <p:spPr>
          <a:xfrm>
            <a:off x="32004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[fill in from the build team: what works in the live demo]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6" name="Google Shape;296;p28"/>
          <p:cNvSpPr txBox="1"/>
          <p:nvPr/>
        </p:nvSpPr>
        <p:spPr>
          <a:xfrm>
            <a:off x="4640580" y="1303020"/>
            <a:ext cx="4160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Next</a:t>
            </a:r>
            <a:endParaRPr sz="12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297" name="Google Shape;297;p28"/>
          <p:cNvSpPr txBox="1"/>
          <p:nvPr/>
        </p:nvSpPr>
        <p:spPr>
          <a:xfrm>
            <a:off x="4640580" y="1645920"/>
            <a:ext cx="41604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More connectors (OneDrive, Outlook)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form standard any business can adopt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Signed completed forms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A browser extension for sites without the button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98" name="Google Shape;298;p28"/>
          <p:cNvSpPr txBox="1"/>
          <p:nvPr/>
        </p:nvSpPr>
        <p:spPr>
          <a:xfrm>
            <a:off x="320040" y="438912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Read-only Google access. Nothing reaches the business without your approval. Delete everything in one tap.</a:t>
            </a:r>
            <a:endParaRPr sz="97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6F7F9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/>
        </p:nvSpPr>
        <p:spPr>
          <a:xfrm>
            <a:off x="320040" y="304800"/>
            <a:ext cx="85038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 b="0">
                <a:solidFill>
                  <a:srgbClr val="0F1A2A"/>
                </a:solidFill>
                <a:latin typeface="Sora SemiBold"/>
                <a:ea typeface="Sora SemiBold"/>
                <a:cs typeface="Sora SemiBold"/>
                <a:sym typeface="Sora SemiBold"/>
              </a:rPr>
              <a:t>T-Mobile gets answers, not accounts.</a:t>
            </a:r>
            <a:endParaRPr sz="2700" b="0">
              <a:solidFill>
                <a:srgbClr val="0F1A2A"/>
              </a:solidFill>
              <a:latin typeface="Sora SemiBold"/>
              <a:ea typeface="Sora SemiBold"/>
              <a:cs typeface="Sora SemiBold"/>
              <a:sym typeface="Sora SemiBold"/>
            </a:endParaRPr>
          </a:p>
        </p:txBody>
      </p:sp>
      <p:sp>
        <p:nvSpPr>
          <p:cNvPr id="132" name="Google Shape;132;p17"/>
          <p:cNvSpPr txBox="1"/>
          <p:nvPr/>
        </p:nvSpPr>
        <p:spPr>
          <a:xfrm>
            <a:off x="320040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Your side</a:t>
            </a:r>
            <a:endParaRPr sz="975" b="0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4754753" y="1097280"/>
            <a:ext cx="39549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5B657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T-Mobile's side</a:t>
            </a:r>
            <a:endParaRPr sz="975" b="0">
              <a:solidFill>
                <a:srgbClr val="5B6575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4" name="Google Shape;134;p17"/>
          <p:cNvCxnSpPr/>
          <p:nvPr/>
        </p:nvCxnSpPr>
        <p:spPr>
          <a:xfrm>
            <a:off x="4571873" y="1097280"/>
            <a:ext cx="0" cy="3086100"/>
          </a:xfrm>
          <a:prstGeom prst="straightConnector1">
            <a:avLst/>
          </a:prstGeom>
          <a:noFill/>
          <a:ln w="19050" cap="flat" cmpd="sng">
            <a:solidFill>
              <a:srgbClr val="8A94A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5" name="Google Shape;135;p17"/>
          <p:cNvSpPr/>
          <p:nvPr/>
        </p:nvSpPr>
        <p:spPr>
          <a:xfrm>
            <a:off x="411480" y="1474470"/>
            <a:ext cx="1508700" cy="3771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320040" y="14744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Gmail</a:t>
            </a:r>
            <a:endParaRPr sz="97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37" name="Google Shape;137;p17"/>
          <p:cNvCxnSpPr/>
          <p:nvPr/>
        </p:nvCxnSpPr>
        <p:spPr>
          <a:xfrm>
            <a:off x="1954530" y="1659636"/>
            <a:ext cx="342900" cy="51450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" name="Google Shape;138;p17"/>
          <p:cNvSpPr/>
          <p:nvPr/>
        </p:nvSpPr>
        <p:spPr>
          <a:xfrm>
            <a:off x="411480" y="1988820"/>
            <a:ext cx="1508700" cy="3771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20040" y="198882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Google Drive</a:t>
            </a:r>
            <a:endParaRPr sz="97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0" name="Google Shape;140;p17"/>
          <p:cNvCxnSpPr/>
          <p:nvPr/>
        </p:nvCxnSpPr>
        <p:spPr>
          <a:xfrm>
            <a:off x="1954530" y="2173986"/>
            <a:ext cx="342900" cy="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" name="Google Shape;141;p17"/>
          <p:cNvSpPr/>
          <p:nvPr/>
        </p:nvSpPr>
        <p:spPr>
          <a:xfrm>
            <a:off x="411480" y="2503170"/>
            <a:ext cx="1508700" cy="377100"/>
          </a:xfrm>
          <a:prstGeom prst="roundRect">
            <a:avLst>
              <a:gd name="adj" fmla="val 16667"/>
            </a:avLst>
          </a:prstGeom>
          <a:solidFill>
            <a:srgbClr val="F6F7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320040" y="2503170"/>
            <a:ext cx="16917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OneDrive</a:t>
            </a:r>
            <a:endParaRPr sz="975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 rot="10800000" flipH="1">
            <a:off x="1954530" y="2174136"/>
            <a:ext cx="342900" cy="514200"/>
          </a:xfrm>
          <a:prstGeom prst="straightConnector1">
            <a:avLst/>
          </a:prstGeom>
          <a:noFill/>
          <a:ln w="15875" cap="flat" cmpd="sng">
            <a:solidFill>
              <a:srgbClr val="8A94A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" name="Google Shape;144;p17"/>
          <p:cNvSpPr/>
          <p:nvPr/>
        </p:nvSpPr>
        <p:spPr>
          <a:xfrm>
            <a:off x="2331720" y="1748790"/>
            <a:ext cx="1886100" cy="857400"/>
          </a:xfrm>
          <a:prstGeom prst="roundRect">
            <a:avLst>
              <a:gd name="adj" fmla="val 16667"/>
            </a:avLst>
          </a:prstGeom>
          <a:solidFill>
            <a:srgbClr val="0F1A2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2343150" y="1748790"/>
            <a:ext cx="18630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0">
                <a:solidFill>
                  <a:srgbClr val="FFFFFF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Formly fills, shows the source, and waits for your OK</a:t>
            </a:r>
            <a:endParaRPr sz="900" b="0">
              <a:solidFill>
                <a:srgbClr val="FFFFFF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cxnSp>
        <p:nvCxnSpPr>
          <p:cNvPr id="146" name="Google Shape;146;p17"/>
          <p:cNvCxnSpPr/>
          <p:nvPr/>
        </p:nvCxnSpPr>
        <p:spPr>
          <a:xfrm>
            <a:off x="4251960" y="2173986"/>
            <a:ext cx="925800" cy="0"/>
          </a:xfrm>
          <a:prstGeom prst="straightConnector1">
            <a:avLst/>
          </a:prstGeom>
          <a:noFill/>
          <a:ln w="31750" cap="flat" cmpd="sng">
            <a:solidFill>
              <a:srgbClr val="22C98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7" name="Google Shape;147;p17"/>
          <p:cNvSpPr txBox="1"/>
          <p:nvPr/>
        </p:nvSpPr>
        <p:spPr>
          <a:xfrm>
            <a:off x="4254500" y="2260600"/>
            <a:ext cx="9779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0">
                <a:solidFill>
                  <a:srgbClr val="0F1A2A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approved answers only</a:t>
            </a:r>
            <a:endParaRPr sz="900" b="0">
              <a:solidFill>
                <a:srgbClr val="0F1A2A"/>
              </a:solidFill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246370" y="1440180"/>
            <a:ext cx="3463200" cy="2640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9ECF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5326380" y="1543050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Full name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417820" y="1748790"/>
            <a:ext cx="31203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5429250" y="1748790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Maria Reyes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5326380" y="2146554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Account number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417820" y="2352294"/>
            <a:ext cx="31203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29250" y="2352294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4417 0093 52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5326380" y="2750058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Phone model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417820" y="2955798"/>
            <a:ext cx="31203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5429250" y="2955798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iPhone 14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326380" y="3353562"/>
            <a:ext cx="3303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25" b="0">
                <a:solidFill>
                  <a:srgbClr val="5B6575"/>
                </a:solidFill>
                <a:latin typeface="DM Sans"/>
                <a:ea typeface="DM Sans"/>
                <a:cs typeface="DM Sans"/>
                <a:sym typeface="DM Sans"/>
              </a:rPr>
              <a:t>Billing address</a:t>
            </a:r>
            <a:endParaRPr sz="825" b="0">
              <a:solidFill>
                <a:srgbClr val="5B657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5417820" y="3559302"/>
            <a:ext cx="3120300" cy="288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CBD1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429250" y="3559302"/>
            <a:ext cx="30975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75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1428 Elm St, Seattle</a:t>
            </a:r>
            <a:endParaRPr sz="975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20040" y="4389120"/>
            <a:ext cx="85038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0">
                <a:solidFill>
                  <a:srgbClr val="0F1A2A"/>
                </a:solidFill>
                <a:latin typeface="DM Sans"/>
                <a:ea typeface="DM Sans"/>
                <a:cs typeface="DM Sans"/>
                <a:sym typeface="DM Sans"/>
              </a:rPr>
              <a:t>Stripe keeps card numbers away from merchants. Formly keeps your inbox and files away from businesses.</a:t>
            </a:r>
            <a:endParaRPr sz="1050" b="0">
              <a:solidFill>
                <a:srgbClr val="0F1A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0040" y="152400"/>
            <a:ext cx="2540000" cy="20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25" b="0">
                <a:solidFill>
                  <a:srgbClr val="5B6575"/>
                </a:solidFill>
                <a:latin typeface="DM Sans Medium"/>
              </a:rPr>
              <a:t>Appendix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1088</Words>
  <Application>Microsoft Macintosh PowerPoint</Application>
  <PresentationFormat>On-screen Show (16:9)</PresentationFormat>
  <Paragraphs>134</Paragraphs>
  <Slides>11</Slides>
  <Notes>11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Sora ExtraBold</vt:lpstr>
      <vt:lpstr>Sora</vt:lpstr>
      <vt:lpstr>IBM Plex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2</cp:revision>
  <dcterms:modified xsi:type="dcterms:W3CDTF">2026-10-18T04:23:07Z</dcterms:modified>
</cp:coreProperties>
</file>